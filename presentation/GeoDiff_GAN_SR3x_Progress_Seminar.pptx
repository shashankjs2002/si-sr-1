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abe314010e49fc" /><Relationship Type="http://schemas.openxmlformats.org/officeDocument/2006/relationships/extended-properties" Target="/docProps/app.xml" Id="Rf692cc53895c4a04" /><Relationship Type="http://schemas.openxmlformats.org/officeDocument/2006/relationships/officeDocument" Target="/ppt/presentation.xml" Id="Reade22e612dd41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5f2996d89d41c8"/>
  </p:sldMasterIdLst>
  <p:notesMasterIdLst>
    <p:notesMasterId xmlns:r="http://schemas.openxmlformats.org/officeDocument/2006/relationships" r:id="R052f0f7b89d547a1"/>
  </p:notesMasterIdLst>
  <p:sldIdLst>
    <p:sldId xmlns:r="http://schemas.openxmlformats.org/officeDocument/2006/relationships" id="256" r:id="R6c8b9e9596be4606"/>
    <p:sldId xmlns:r="http://schemas.openxmlformats.org/officeDocument/2006/relationships" id="257" r:id="R72ce652be0a5433c"/>
    <p:sldId xmlns:r="http://schemas.openxmlformats.org/officeDocument/2006/relationships" id="258" r:id="R93da97f21f7d4a68"/>
    <p:sldId xmlns:r="http://schemas.openxmlformats.org/officeDocument/2006/relationships" id="259" r:id="R1207e91e217745f6"/>
    <p:sldId xmlns:r="http://schemas.openxmlformats.org/officeDocument/2006/relationships" id="260" r:id="Rc0a02beb507b4a7e"/>
    <p:sldId xmlns:r="http://schemas.openxmlformats.org/officeDocument/2006/relationships" id="261" r:id="Rd606c18ddf824d92"/>
    <p:sldId xmlns:r="http://schemas.openxmlformats.org/officeDocument/2006/relationships" id="262" r:id="Rb2b5aa7720cc4981"/>
    <p:sldId xmlns:r="http://schemas.openxmlformats.org/officeDocument/2006/relationships" id="263" r:id="Rc2a080bc5e5c45af"/>
    <p:sldId xmlns:r="http://schemas.openxmlformats.org/officeDocument/2006/relationships" id="264" r:id="R5aae9deb5d77455e"/>
    <p:sldId xmlns:r="http://schemas.openxmlformats.org/officeDocument/2006/relationships" id="265" r:id="Rea8a6e1904be4e97"/>
    <p:sldId xmlns:r="http://schemas.openxmlformats.org/officeDocument/2006/relationships" id="266" r:id="R8d8fe9ea2cf748ec"/>
    <p:sldId xmlns:r="http://schemas.openxmlformats.org/officeDocument/2006/relationships" id="267" r:id="Rcdfc1df6a7454e9a"/>
    <p:sldId xmlns:r="http://schemas.openxmlformats.org/officeDocument/2006/relationships" id="268" r:id="R5cce3908020242ea"/>
    <p:sldId xmlns:r="http://schemas.openxmlformats.org/officeDocument/2006/relationships" id="269" r:id="Re16caeea884e4ac3"/>
    <p:sldId xmlns:r="http://schemas.openxmlformats.org/officeDocument/2006/relationships" id="270" r:id="Rbe121b4344ee4174"/>
    <p:sldId xmlns:r="http://schemas.openxmlformats.org/officeDocument/2006/relationships" id="271" r:id="Rd516e75b936a4beb"/>
    <p:sldId xmlns:r="http://schemas.openxmlformats.org/officeDocument/2006/relationships" id="272" r:id="Rf0bce3394c30456e"/>
    <p:sldId xmlns:r="http://schemas.openxmlformats.org/officeDocument/2006/relationships" id="273" r:id="Rf528a63e74174708"/>
    <p:sldId xmlns:r="http://schemas.openxmlformats.org/officeDocument/2006/relationships" id="274" r:id="R54e700d3299144d4"/>
    <p:sldId xmlns:r="http://schemas.openxmlformats.org/officeDocument/2006/relationships" id="275" r:id="R251d2f857df64e2b"/>
    <p:sldId xmlns:r="http://schemas.openxmlformats.org/officeDocument/2006/relationships" id="276" r:id="R0205e285cb9b458b"/>
    <p:sldId xmlns:r="http://schemas.openxmlformats.org/officeDocument/2006/relationships" id="277" r:id="R4ed5c0b469d24d7c"/>
    <p:sldId xmlns:r="http://schemas.openxmlformats.org/officeDocument/2006/relationships" id="278" r:id="Rc8509ab40dd04ae1"/>
    <p:sldId xmlns:r="http://schemas.openxmlformats.org/officeDocument/2006/relationships" id="279" r:id="R03f945794fbc4ef7"/>
    <p:sldId xmlns:r="http://schemas.openxmlformats.org/officeDocument/2006/relationships" id="280" r:id="R8a74ef7595e549ff"/>
    <p:sldId xmlns:r="http://schemas.openxmlformats.org/officeDocument/2006/relationships" id="281" r:id="Rfbf1b54ec4394260"/>
    <p:sldId xmlns:r="http://schemas.openxmlformats.org/officeDocument/2006/relationships" id="282" r:id="Rd34c35163e604643"/>
    <p:sldId xmlns:r="http://schemas.openxmlformats.org/officeDocument/2006/relationships" id="283" r:id="R36a831daa96c472c"/>
    <p:sldId xmlns:r="http://schemas.openxmlformats.org/officeDocument/2006/relationships" id="284" r:id="R15450621a0314f35"/>
    <p:sldId xmlns:r="http://schemas.openxmlformats.org/officeDocument/2006/relationships" id="285" r:id="R470054dd110b4e2d"/>
    <p:sldId xmlns:r="http://schemas.openxmlformats.org/officeDocument/2006/relationships" id="286" r:id="Rb4dec93b52454b05"/>
    <p:sldId xmlns:r="http://schemas.openxmlformats.org/officeDocument/2006/relationships" id="287" r:id="R18eb5d8ab8e94984"/>
    <p:sldId xmlns:r="http://schemas.openxmlformats.org/officeDocument/2006/relationships" id="288" r:id="R607f7afe99584331"/>
    <p:sldId xmlns:r="http://schemas.openxmlformats.org/officeDocument/2006/relationships" id="289" r:id="R2c0c06fd81b240ae"/>
    <p:sldId xmlns:r="http://schemas.openxmlformats.org/officeDocument/2006/relationships" id="290" r:id="Rd4d8d4b0244b4803"/>
    <p:sldId xmlns:r="http://schemas.openxmlformats.org/officeDocument/2006/relationships" id="291" r:id="R23dc79dbb2c8456c"/>
    <p:sldId xmlns:r="http://schemas.openxmlformats.org/officeDocument/2006/relationships" id="292" r:id="Rf408364d9857426a"/>
    <p:sldId xmlns:r="http://schemas.openxmlformats.org/officeDocument/2006/relationships" id="293" r:id="Rdb04f2546b544410"/>
    <p:sldId xmlns:r="http://schemas.openxmlformats.org/officeDocument/2006/relationships" id="294" r:id="R40cc1f27e0c7486a"/>
    <p:sldId xmlns:r="http://schemas.openxmlformats.org/officeDocument/2006/relationships" id="295" r:id="Re9082ca1d32d4b73"/>
    <p:sldId xmlns:r="http://schemas.openxmlformats.org/officeDocument/2006/relationships" id="296" r:id="R8625d3fe97c743b2"/>
    <p:sldId xmlns:r="http://schemas.openxmlformats.org/officeDocument/2006/relationships" id="297" r:id="R138f7524a42340fb"/>
    <p:sldId xmlns:r="http://schemas.openxmlformats.org/officeDocument/2006/relationships" id="298" r:id="R47bbf301175647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09496b675c46c2" /><Relationship Type="http://schemas.openxmlformats.org/officeDocument/2006/relationships/slideMaster" Target="/ppt/slideMasters/slideMaster1.xml" Id="Re85f2996d89d41c8" /><Relationship Type="http://schemas.openxmlformats.org/officeDocument/2006/relationships/notesMaster" Target="/ppt/notesMasters/notesMaster1.xml" Id="R052f0f7b89d547a1" /><Relationship Type="http://schemas.openxmlformats.org/officeDocument/2006/relationships/presProps" Target="/ppt/presProps.xml" Id="R7139f8ae4d1e4ac5" /><Relationship Type="http://schemas.openxmlformats.org/officeDocument/2006/relationships/tableStyles" Target="/ppt/tableStyles.xml" Id="R0ea9cec8cf96481f" /><Relationship Type="http://schemas.openxmlformats.org/officeDocument/2006/relationships/slide" Target="/ppt/slides/slide1.xml" Id="R6c8b9e9596be4606" /><Relationship Type="http://schemas.openxmlformats.org/officeDocument/2006/relationships/slide" Target="/ppt/slides/slide2.xml" Id="R72ce652be0a5433c" /><Relationship Type="http://schemas.openxmlformats.org/officeDocument/2006/relationships/slide" Target="/ppt/slides/slide3.xml" Id="R93da97f21f7d4a68" /><Relationship Type="http://schemas.openxmlformats.org/officeDocument/2006/relationships/slide" Target="/ppt/slides/slide4.xml" Id="R1207e91e217745f6" /><Relationship Type="http://schemas.openxmlformats.org/officeDocument/2006/relationships/slide" Target="/ppt/slides/slide5.xml" Id="Rc0a02beb507b4a7e" /><Relationship Type="http://schemas.openxmlformats.org/officeDocument/2006/relationships/slide" Target="/ppt/slides/slide6.xml" Id="Rd606c18ddf824d92" /><Relationship Type="http://schemas.openxmlformats.org/officeDocument/2006/relationships/slide" Target="/ppt/slides/slide7.xml" Id="Rb2b5aa7720cc4981" /><Relationship Type="http://schemas.openxmlformats.org/officeDocument/2006/relationships/slide" Target="/ppt/slides/slide8.xml" Id="Rc2a080bc5e5c45af" /><Relationship Type="http://schemas.openxmlformats.org/officeDocument/2006/relationships/slide" Target="/ppt/slides/slide9.xml" Id="R5aae9deb5d77455e" /><Relationship Type="http://schemas.openxmlformats.org/officeDocument/2006/relationships/slide" Target="/ppt/slides/slide10.xml" Id="Rea8a6e1904be4e97" /><Relationship Type="http://schemas.openxmlformats.org/officeDocument/2006/relationships/slide" Target="/ppt/slides/slide11.xml" Id="R8d8fe9ea2cf748ec" /><Relationship Type="http://schemas.openxmlformats.org/officeDocument/2006/relationships/slide" Target="/ppt/slides/slide12.xml" Id="Rcdfc1df6a7454e9a" /><Relationship Type="http://schemas.openxmlformats.org/officeDocument/2006/relationships/slide" Target="/ppt/slides/slide13.xml" Id="R5cce3908020242ea" /><Relationship Type="http://schemas.openxmlformats.org/officeDocument/2006/relationships/slide" Target="/ppt/slides/slide14.xml" Id="Re16caeea884e4ac3" /><Relationship Type="http://schemas.openxmlformats.org/officeDocument/2006/relationships/slide" Target="/ppt/slides/slide15.xml" Id="Rbe121b4344ee4174" /><Relationship Type="http://schemas.openxmlformats.org/officeDocument/2006/relationships/slide" Target="/ppt/slides/slide16.xml" Id="Rd516e75b936a4beb" /><Relationship Type="http://schemas.openxmlformats.org/officeDocument/2006/relationships/slide" Target="/ppt/slides/slide17.xml" Id="Rf0bce3394c30456e" /><Relationship Type="http://schemas.openxmlformats.org/officeDocument/2006/relationships/slide" Target="/ppt/slides/slide18.xml" Id="Rf528a63e74174708" /><Relationship Type="http://schemas.openxmlformats.org/officeDocument/2006/relationships/slide" Target="/ppt/slides/slide19.xml" Id="R54e700d3299144d4" /><Relationship Type="http://schemas.openxmlformats.org/officeDocument/2006/relationships/slide" Target="/ppt/slides/slide20.xml" Id="R251d2f857df64e2b" /><Relationship Type="http://schemas.openxmlformats.org/officeDocument/2006/relationships/slide" Target="/ppt/slides/slide21.xml" Id="R0205e285cb9b458b" /><Relationship Type="http://schemas.openxmlformats.org/officeDocument/2006/relationships/slide" Target="/ppt/slides/slide22.xml" Id="R4ed5c0b469d24d7c" /><Relationship Type="http://schemas.openxmlformats.org/officeDocument/2006/relationships/slide" Target="/ppt/slides/slide23.xml" Id="Rc8509ab40dd04ae1" /><Relationship Type="http://schemas.openxmlformats.org/officeDocument/2006/relationships/slide" Target="/ppt/slides/slide24.xml" Id="R03f945794fbc4ef7" /><Relationship Type="http://schemas.openxmlformats.org/officeDocument/2006/relationships/slide" Target="/ppt/slides/slide25.xml" Id="R8a74ef7595e549ff" /><Relationship Type="http://schemas.openxmlformats.org/officeDocument/2006/relationships/slide" Target="/ppt/slides/slide26.xml" Id="Rfbf1b54ec4394260" /><Relationship Type="http://schemas.openxmlformats.org/officeDocument/2006/relationships/slide" Target="/ppt/slides/slide27.xml" Id="Rd34c35163e604643" /><Relationship Type="http://schemas.openxmlformats.org/officeDocument/2006/relationships/slide" Target="/ppt/slides/slide28.xml" Id="R36a831daa96c472c" /><Relationship Type="http://schemas.openxmlformats.org/officeDocument/2006/relationships/slide" Target="/ppt/slides/slide29.xml" Id="R15450621a0314f35" /><Relationship Type="http://schemas.openxmlformats.org/officeDocument/2006/relationships/slide" Target="/ppt/slides/slide30.xml" Id="R470054dd110b4e2d" /><Relationship Type="http://schemas.openxmlformats.org/officeDocument/2006/relationships/slide" Target="/ppt/slides/slide31.xml" Id="Rb4dec93b52454b05" /><Relationship Type="http://schemas.openxmlformats.org/officeDocument/2006/relationships/slide" Target="/ppt/slides/slide32.xml" Id="R18eb5d8ab8e94984" /><Relationship Type="http://schemas.openxmlformats.org/officeDocument/2006/relationships/slide" Target="/ppt/slides/slide33.xml" Id="R607f7afe99584331" /><Relationship Type="http://schemas.openxmlformats.org/officeDocument/2006/relationships/slide" Target="/ppt/slides/slide34.xml" Id="R2c0c06fd81b240ae" /><Relationship Type="http://schemas.openxmlformats.org/officeDocument/2006/relationships/slide" Target="/ppt/slides/slide35.xml" Id="Rd4d8d4b0244b4803" /><Relationship Type="http://schemas.openxmlformats.org/officeDocument/2006/relationships/slide" Target="/ppt/slides/slide36.xml" Id="R23dc79dbb2c8456c" /><Relationship Type="http://schemas.openxmlformats.org/officeDocument/2006/relationships/slide" Target="/ppt/slides/slide37.xml" Id="Rf408364d9857426a" /><Relationship Type="http://schemas.openxmlformats.org/officeDocument/2006/relationships/slide" Target="/ppt/slides/slide38.xml" Id="Rdb04f2546b544410" /><Relationship Type="http://schemas.openxmlformats.org/officeDocument/2006/relationships/slide" Target="/ppt/slides/slide39.xml" Id="R40cc1f27e0c7486a" /><Relationship Type="http://schemas.openxmlformats.org/officeDocument/2006/relationships/slide" Target="/ppt/slides/slide40.xml" Id="Re9082ca1d32d4b73" /><Relationship Type="http://schemas.openxmlformats.org/officeDocument/2006/relationships/slide" Target="/ppt/slides/slide41.xml" Id="R8625d3fe97c743b2" /><Relationship Type="http://schemas.openxmlformats.org/officeDocument/2006/relationships/slide" Target="/ppt/slides/slide42.xml" Id="R138f7524a42340fb" /><Relationship Type="http://schemas.openxmlformats.org/officeDocument/2006/relationships/slide" Target="/ppt/slides/slide43.xml" Id="R47bbf3011756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6889f97d904b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8fc297c15943d3" /><Relationship Type="http://schemas.openxmlformats.org/officeDocument/2006/relationships/notesMaster" Target="/ppt/notesMasters/notesMaster1.xml" Id="R920d3170576144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d4bd1d100c44d4" /><Relationship Type="http://schemas.openxmlformats.org/officeDocument/2006/relationships/notesMaster" Target="/ppt/notesMasters/notesMaster1.xml" Id="R400fbbb7612a46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03b547335c46a7" /><Relationship Type="http://schemas.openxmlformats.org/officeDocument/2006/relationships/notesMaster" Target="/ppt/notesMasters/notesMaster1.xml" Id="Rb5a3d1a2b6ea4b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f490aa2e47443f" /><Relationship Type="http://schemas.openxmlformats.org/officeDocument/2006/relationships/notesMaster" Target="/ppt/notesMasters/notesMaster1.xml" Id="Ra1929af5351348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9efd71592848ae" /><Relationship Type="http://schemas.openxmlformats.org/officeDocument/2006/relationships/notesMaster" Target="/ppt/notesMasters/notesMaster1.xml" Id="Ref9f34fc83f140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0cd7c3f7604bfc" /><Relationship Type="http://schemas.openxmlformats.org/officeDocument/2006/relationships/notesMaster" Target="/ppt/notesMasters/notesMaster1.xml" Id="R4c991122895549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57eaa47958420f" /><Relationship Type="http://schemas.openxmlformats.org/officeDocument/2006/relationships/notesMaster" Target="/ppt/notesMasters/notesMaster1.xml" Id="Rff5536d3ae204f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be4431f4d64ba4" /><Relationship Type="http://schemas.openxmlformats.org/officeDocument/2006/relationships/notesMaster" Target="/ppt/notesMasters/notesMaster1.xml" Id="R5c30780b378548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f0d66f840f49cb" /><Relationship Type="http://schemas.openxmlformats.org/officeDocument/2006/relationships/notesMaster" Target="/ppt/notesMasters/notesMaster1.xml" Id="Rd9fad00f8d4f44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22bc7bc07749f5" /><Relationship Type="http://schemas.openxmlformats.org/officeDocument/2006/relationships/notesMaster" Target="/ppt/notesMasters/notesMaster1.xml" Id="R628227f9ceb549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20d30272d74566" /><Relationship Type="http://schemas.openxmlformats.org/officeDocument/2006/relationships/notesMaster" Target="/ppt/notesMasters/notesMaster1.xml" Id="R89b46e5827ff42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5598439b2f24451" /><Relationship Type="http://schemas.openxmlformats.org/officeDocument/2006/relationships/notesMaster" Target="/ppt/notesMasters/notesMaster1.xml" Id="R15398a9c42094c3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e896b2171141ba" /><Relationship Type="http://schemas.openxmlformats.org/officeDocument/2006/relationships/notesMaster" Target="/ppt/notesMasters/notesMaster1.xml" Id="Recaf79ed0f6747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9aaa8c5c2f4413" /><Relationship Type="http://schemas.openxmlformats.org/officeDocument/2006/relationships/notesMaster" Target="/ppt/notesMasters/notesMaster1.xml" Id="R59698877bb514b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f08126a1bb41f7" /><Relationship Type="http://schemas.openxmlformats.org/officeDocument/2006/relationships/notesMaster" Target="/ppt/notesMasters/notesMaster1.xml" Id="R147592280a6e46f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1774d46cdfc4545" /><Relationship Type="http://schemas.openxmlformats.org/officeDocument/2006/relationships/notesMaster" Target="/ppt/notesMasters/notesMaster1.xml" Id="R3f39f54124c94a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12170be1467487e" /><Relationship Type="http://schemas.openxmlformats.org/officeDocument/2006/relationships/notesMaster" Target="/ppt/notesMasters/notesMaster1.xml" Id="Rc68db536e34d46e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d3ef78dbbed4a45" /><Relationship Type="http://schemas.openxmlformats.org/officeDocument/2006/relationships/notesMaster" Target="/ppt/notesMasters/notesMaster1.xml" Id="Rbf2f4734f20143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bf38c00c5249b9" /><Relationship Type="http://schemas.openxmlformats.org/officeDocument/2006/relationships/notesMaster" Target="/ppt/notesMasters/notesMaster1.xml" Id="Rdfdc0ee9586447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66c945d30f4b34" /><Relationship Type="http://schemas.openxmlformats.org/officeDocument/2006/relationships/notesMaster" Target="/ppt/notesMasters/notesMaster1.xml" Id="Rbb1ced90f61244a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92a94dcf10a4fbf" /><Relationship Type="http://schemas.openxmlformats.org/officeDocument/2006/relationships/notesMaster" Target="/ppt/notesMasters/notesMaster1.xml" Id="R930fb642184c4fe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2dccded767a443d" /><Relationship Type="http://schemas.openxmlformats.org/officeDocument/2006/relationships/notesMaster" Target="/ppt/notesMasters/notesMaster1.xml" Id="R4f7b4af0d4c44d6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069331f8fd40a2" /><Relationship Type="http://schemas.openxmlformats.org/officeDocument/2006/relationships/notesMaster" Target="/ppt/notesMasters/notesMaster1.xml" Id="R0cfd0cd2b7dc4fd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ec5f0aa4e80468c" /><Relationship Type="http://schemas.openxmlformats.org/officeDocument/2006/relationships/notesMaster" Target="/ppt/notesMasters/notesMaster1.xml" Id="R232b2e9e9527462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4b162b10c9c4bc4" /><Relationship Type="http://schemas.openxmlformats.org/officeDocument/2006/relationships/notesMaster" Target="/ppt/notesMasters/notesMaster1.xml" Id="Rccf1b49ae4be4c2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857213223104d9c" /><Relationship Type="http://schemas.openxmlformats.org/officeDocument/2006/relationships/notesMaster" Target="/ppt/notesMasters/notesMaster1.xml" Id="R4269cb2534924c9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f5e590d919e4d4f" /><Relationship Type="http://schemas.openxmlformats.org/officeDocument/2006/relationships/notesMaster" Target="/ppt/notesMasters/notesMaster1.xml" Id="Re78ef7b63aa4435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15e251b94904184" /><Relationship Type="http://schemas.openxmlformats.org/officeDocument/2006/relationships/notesMaster" Target="/ppt/notesMasters/notesMaster1.xml" Id="Rb3c4e225c04c48a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deede2b5345476e" /><Relationship Type="http://schemas.openxmlformats.org/officeDocument/2006/relationships/notesMaster" Target="/ppt/notesMasters/notesMaster1.xml" Id="R3d582a3a8465421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3584515e08f4cb7" /><Relationship Type="http://schemas.openxmlformats.org/officeDocument/2006/relationships/notesMaster" Target="/ppt/notesMasters/notesMaster1.xml" Id="R26c3ca05ef7a478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d2a2e8e06f9404d" /><Relationship Type="http://schemas.openxmlformats.org/officeDocument/2006/relationships/notesMaster" Target="/ppt/notesMasters/notesMaster1.xml" Id="Rfe1c8e4822974d5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a141afcaf3946a7" /><Relationship Type="http://schemas.openxmlformats.org/officeDocument/2006/relationships/notesMaster" Target="/ppt/notesMasters/notesMaster1.xml" Id="R048da3474e36426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70f9966e5c14d3d" /><Relationship Type="http://schemas.openxmlformats.org/officeDocument/2006/relationships/notesMaster" Target="/ppt/notesMasters/notesMaster1.xml" Id="R2e05f5fe34a4476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d7aeab10c364009" /><Relationship Type="http://schemas.openxmlformats.org/officeDocument/2006/relationships/notesMaster" Target="/ppt/notesMasters/notesMaster1.xml" Id="R5a7dca8867ff430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37e4de34b3c4290" /><Relationship Type="http://schemas.openxmlformats.org/officeDocument/2006/relationships/notesMaster" Target="/ppt/notesMasters/notesMaster1.xml" Id="R398a186cf94d4f2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7ab3abe52fa4b17" /><Relationship Type="http://schemas.openxmlformats.org/officeDocument/2006/relationships/notesMaster" Target="/ppt/notesMasters/notesMaster1.xml" Id="Rfe01a0712d3143e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5cd184bf7ca47d1" /><Relationship Type="http://schemas.openxmlformats.org/officeDocument/2006/relationships/notesMaster" Target="/ppt/notesMasters/notesMaster1.xml" Id="Rb25128a4c8f24fb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f171886c46b4b03" /><Relationship Type="http://schemas.openxmlformats.org/officeDocument/2006/relationships/notesMaster" Target="/ppt/notesMasters/notesMaster1.xml" Id="Rd7dc64b21f8b499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be62a3126c446c5" /><Relationship Type="http://schemas.openxmlformats.org/officeDocument/2006/relationships/notesMaster" Target="/ppt/notesMasters/notesMaster1.xml" Id="R68f8844ed65449d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0c717c60829487f" /><Relationship Type="http://schemas.openxmlformats.org/officeDocument/2006/relationships/notesMaster" Target="/ppt/notesMasters/notesMaster1.xml" Id="R06f967abd03f405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a0f2e29b1ef4638" /><Relationship Type="http://schemas.openxmlformats.org/officeDocument/2006/relationships/notesMaster" Target="/ppt/notesMasters/notesMaster1.xml" Id="R77c5a1a3ee9c4f3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3c4aa6396a741f3" /><Relationship Type="http://schemas.openxmlformats.org/officeDocument/2006/relationships/notesMaster" Target="/ppt/notesMasters/notesMaster1.xml" Id="R19c22a63c47f48b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44747604938439b" /><Relationship Type="http://schemas.openxmlformats.org/officeDocument/2006/relationships/notesMaster" Target="/ppt/notesMasters/notesMaster1.xml" Id="Rb819c3fefd044b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scientific objective: improve spatial detail without silently violating the Landsat measurement. State that the output is a Sentinel-like estimate, not a new physical observation.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https://www.usgs.gov/landsat-missions/landsat-8</a:t>
            </a:r>
          </a:p>
          <a:p xmlns:a="http://schemas.openxmlformats.org/drawingml/2006/main">
            <a:r>
              <a:t>- https://documentation.dataspace.copernicus.eu/Data/SentinelMissions/Sentinel2.html</a:t>
            </a:r>
          </a:p>
          <a:p xmlns:a="http://schemas.openxmlformats.org/drawingml/2006/main">
            <a:r>
              <a:t>- Project assets: outs/landsat_30m.webp, outs/infered_10m.webp, outs/sentinel_10m.webp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panels cover the same geographic footprint. The boxes explain sampling density, not physical display size. Expected answer: one coarse measurement cannot uniquely determine nine fine measurements; the inverse problem is ill-posed.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https://www.usgs.gov/landsat-missions/landsat-8</a:t>
            </a:r>
          </a:p>
          <a:p xmlns:a="http://schemas.openxmlformats.org/drawingml/2006/main">
            <a:r>
              <a:t>- Project assets: outs/landsat_30m.webp and outs/sentinel_10m.webp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separate spatial resolution from the other three resolution dimensions. The model changes the output sampling grid; it does not upgrade the sensor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https://www.usgs.gov/landsat-missions/landsat-8</a:t>
            </a:r>
          </a:p>
          <a:p xmlns:a="http://schemas.openxmlformats.org/drawingml/2006/main">
            <a:r>
              <a:t>- https://documentation.dataspace.copernicus.eu/Data/SentinelMissions/Sentinel2.html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array enlargement is not equivalent to information recovery. The model output remains an estimate even when it is visually sharper.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https://arxiv.org/abs/2108.10257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audience what should be preferred when a matching Sentinel image exists. The answer is the real measurement. SR addresses missing, cloudy, costly, or historical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https://www.usgs.gov/landsat-missions/landsat-surface-reflectance</a:t>
            </a:r>
          </a:p>
          <a:p xmlns:a="http://schemas.openxmlformats.org/drawingml/2006/main">
            <a:r>
              <a:t>- https://documentation.dataspace.copernicus.eu/Data/SentinelMissions/Sentinel2.html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generated SR product may help an analyst prioritize or inspect areas, but important decisions require independent measurements and 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scientific test around held-out fidelity, consistency, generalization, and uncertainty, not visual sharpness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not synthetic downsampling. Landsat and Sentinel are different observations from different instruments, so sensor mismatch becomes part of the learning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https://www.usgs.gov/landsat-missions/landsat-surface-reflectance</a:t>
            </a:r>
          </a:p>
          <a:p xmlns:a="http://schemas.openxmlformats.org/drawingml/2006/main">
            <a:r>
              <a:t>- https://documentation.dataspace.copernicus.eu/Data/SentinelMissions/Sentinel2.html</a:t>
            </a:r>
          </a:p>
          <a:p xmlns:a="http://schemas.openxmlformats.org/drawingml/2006/main">
            <a:r>
              <a:t>- Project assets: outs/landsat_30m.webp, outs/infered_10m.webp, outs/sentinel_10m.webp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current SR-3x branch was cut to address the supervisor-directed real Landsat-to-Sentinel problem. Each phase changes the scientific question and the evidence required, rather than merely increasing model size.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roads and riverbanks as alignment examples. Explain that a mismatch may be sensor color response, haze, change, or displacement rather than missing spatial detail.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https://lpdaac.usgs.gov/documents/1698/HLS_User_Guide_V2.pdf</a:t>
            </a:r>
          </a:p>
          <a:p xmlns:a="http://schemas.openxmlformats.org/drawingml/2006/main">
            <a:r>
              <a:t>- https://www.usgs.gov/landsat-missions/landsat-8</a:t>
            </a:r>
          </a:p>
          <a:p xmlns:a="http://schemas.openxmlformats.org/drawingml/2006/main">
            <a:r>
              <a:t>- https://documentation.dataspace.copernicus.eu/Data/SentinelMissions/Sentinel2.html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hypothesis: a conservative RGB base plus evidence-gated multispectral residual guidance should be safer than unrestricted full-image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Surface reflectance is used instead of display RGB or raw digital numbers. Auxiliary bands provide material and moisture cues but are never presented as output colors.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https://www.usgs.gov/landsat-missions/landsat-8</a:t>
            </a:r>
          </a:p>
          <a:p xmlns:a="http://schemas.openxmlformats.org/drawingml/2006/main">
            <a:r>
              <a:t>- https://documentation.dataspace.copernicus.eu/APIs/SentinelHub/Data/S2L2A.html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processing sequence. Stress that a patch is not just two images; it is a paired measurement with provenance and validity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https://www.usgs.gov/landsat-missions/landsat-surface-reflectance</a:t>
            </a:r>
          </a:p>
          <a:p xmlns:a="http://schemas.openxmlformats.org/drawingml/2006/main">
            <a:r>
              <a:t>- https://documentation.dataspace.copernicus.eu/Data/SentinelMissions/Sentinel2.html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plotting library scales both arrays to the same display box. Native sample count and ground sampling distance do not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Rejected samples are quarantined with a reason rather than silently deleted. This preserves an audit trail and supports later threshold 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https://documentation.dataspace.copernicus.eu/APIs/SentinelHub/Data/S2L2A.html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Random patch splitting is invalid because nearby windows overlap and share textures. Within-tile splits are for development; full tile holdout is the stronger generalization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SwinIR is both an internal branch and a baseline. A final output below the base in held-out PSNR/SSIM is a regression, even if it looks sharper.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https://arxiv.org/abs/2108.10257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two responsibility paths. The top path reconstructs measured low-frequency structure. The bottom path proposes high-frequency residual detail using all six Landsat bands. The residual is gated and can be rejected.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src/geodiff_gan/models/system.py on branch SR-3x</a:t>
            </a:r>
          </a:p>
          <a:p xmlns:a="http://schemas.openxmlformats.org/drawingml/2006/main">
            <a:r>
              <a:t>- https://arxiv.org/abs/2108.10257</a:t>
            </a:r>
          </a:p>
          <a:p xmlns:a="http://schemas.openxmlformats.org/drawingml/2006/main">
            <a:r>
              <a:t>- https://arxiv.org/abs/2410.10812</a:t>
            </a:r>
          </a:p>
          <a:p xmlns:a="http://schemas.openxmlformats.org/drawingml/2006/main">
            <a:r>
              <a:t>- https://arxiv.org/abs/2405.04356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SwinIR-style branch predicts an RGB residual over bicubic interpolation. In the guided model base_input_channels=3, so NIR/SWIR are excluded from this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src/geodiff_gan/models/base.py</a:t>
            </a:r>
          </a:p>
          <a:p xmlns:a="http://schemas.openxmlformats.org/drawingml/2006/main">
            <a:r>
              <a:t>- https://arxiv.org/abs/2108.10257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VAE itself is not the super-resolution model. It is trained on target-minus-base residuals and provides the latent space in which diffusion operates.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src/geodiff_gan/models/vae.py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Diffusion represents one-to-many uncertainty, but plausibility is not fidelity. Multiple samples support uncertainty estimation. Mention the current internal upsampler accurately as an implementation detail for future ablation.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src/geodiff_gan/models/diffusion.py</a:t>
            </a:r>
          </a:p>
          <a:p xmlns:a="http://schemas.openxmlformats.org/drawingml/2006/main">
            <a:r>
              <a:t>- https://arxiv.org/abs/2410.10812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decoder has two heads in code: detail residual and edit residual. SR mode high-pass filters the detail head and multiplies it by evidence confidence before adding it to the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src/geodiff_gan/models/generator.py</a:t>
            </a:r>
          </a:p>
          <a:p xmlns:a="http://schemas.openxmlformats.org/drawingml/2006/main">
            <a:r>
              <a:t>- Project source: src/geodiff_gan/models/system.py</a:t>
            </a:r>
          </a:p>
          <a:p xmlns:a="http://schemas.openxmlformats.org/drawingml/2006/main">
            <a:r>
              <a:t>- https://arxiv.org/abs/2405.04356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mix prompt-edit results with reconstruction metrics. Edit mode is planned as a separately labeled synthetic visualization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Stage-wise checkpoints initialize the next stage. During inference the final joint checkpoint contains the state dictionaries for the complete model, so a separate model object per stage is not loaded.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supervisor-directed objective is currently distortion fidelity. Adversarial, wavelet, and perceptual losses should return only after the model proves it can beat the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full-reference metrics depend on pair quality and registration. A high PSNR value can still hide spatially concentrated errors, so per-patch maps remain necessary.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residual repeated across unrelated inputs indicates a texture shortcut. Lattice peaks indicate phase artifacts. Confidence should vary spatially rather than collapse to a uniform scalar.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 the negative result plainly. Adding fidelity weights or sending six bands through the whole network did not reliably improve PSNR/SSIM. The sample size is diagnostic, not conclusive.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Researcher-supplied preliminary evaluation table from the SR-3x experiment suite.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 larger network can memorize mismatch more effectively. The improvement plan changes responsibility boundaries before changing capacity.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Calibration is fitted at 30 m from training pairs only. Validation and test targets never influence the coefficients. NIR/SWIR can guide the residual pathway but cannot directly alter base RGB.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src/geodiff_gan/data/radiometry.py</a:t>
            </a:r>
          </a:p>
          <a:p xmlns:a="http://schemas.openxmlformats.org/drawingml/2006/main">
            <a:r>
              <a:t>- Project source: configs/landsat_sentinel_3x_multispectral_guided.yaml</a:t>
            </a:r>
          </a:p>
          <a:p xmlns:a="http://schemas.openxmlformats.org/drawingml/2006/main">
            <a:r>
              <a:t>- https://lpdaac.usgs.gov/documents/1698/HLS_User_Guide_V2.pdf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Predefine the criteria before examining test results. The same validation rule must be applied to all models, and test targets must not select alpha.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inspiration is residual decomposition in HART, diffusion-to-GAN mapping and style modulation, and high-frequency wavelet discrimination. The satellite-specific claim is the evidence-controlled cross-sensor integration and its validated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https://arxiv.org/abs/2410.10812</a:t>
            </a:r>
          </a:p>
          <a:p xmlns:a="http://schemas.openxmlformats.org/drawingml/2006/main">
            <a:r>
              <a:t>- https://arxiv.org/abs/2405.04356</a:t>
            </a:r>
          </a:p>
          <a:p xmlns:a="http://schemas.openxmlformats.org/drawingml/2006/main">
            <a:r>
              <a:t>- https://arxiv.org/abs/2402.19215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software completion from scientific validation. The implementation exists; the next experiments determine whether the mechanisms improve held-out fidelity.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raw products, masks, provenance, uncertainty, and reference imagery available to the analyst. Prompt edits require an explicit synthetic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Prioritize data audit and base-relative evaluation. Model complexity is not the first remaining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decision rule explicit: held-out measurements and pair audits determine the conclusion, not preference for the more complex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opening question. The central criterion is whether the residual improves held-out reconstruction without violating evidence or creating systematic artifacts.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the panel to challenge the data protocol and acceptance criteria. These decisions are more consequential than cosmetic architecture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y for Landsat, x for Sentinel, B for the deterministic base, and R for the residual generator. Explain each term before discussing the equation.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values come from the current small guided configuration: base_embed_dim=32, lr_channels=24, mapper_channels=48, style_dim=96, and scale=3.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configs/landsat_sentinel_3x_multispectral_guided.yaml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precise: the current image-space paths use resize-convolution, but the latent diffusion U-Net retains an internal PixelShuffle upsampler that can be ablated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src/geodiff_gan/models/base.py and generator.py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record prevents accidental comparison of different data, checkpoints, or inference settings. Best and latest checkpoints serve different audit purposes.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labels prevent overclaiming and make the progress seminar easier to defend under cross-questioning.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SR-3x source code and researcher-authored experiment notes.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8563ec7c741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ff8b12138a43c3" /><Relationship Type="http://schemas.openxmlformats.org/officeDocument/2006/relationships/slideLayout" Target="/ppt/slideLayouts/slideLayout1.xml" Id="Rd4c41c49548f46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c41c49548f46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e3a536b684bc3" /><Relationship Type="http://schemas.openxmlformats.org/officeDocument/2006/relationships/image" Target="/ppt/media/image.bin" Id="Ree55d0ac50e74032" /><Relationship Type="http://schemas.openxmlformats.org/officeDocument/2006/relationships/image" Target="/ppt/media/image2.bin" Id="R8c013fbff7834797" /><Relationship Type="http://schemas.openxmlformats.org/officeDocument/2006/relationships/image" Target="/ppt/media/image3.bin" Id="R072c1f3a6b4c490b" /><Relationship Type="http://schemas.openxmlformats.org/officeDocument/2006/relationships/notesSlide" Target="/ppt/notesSlides/notesSlide1.xml" Id="R9cae2ede169c4d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09377d66e4321" /><Relationship Type="http://schemas.openxmlformats.org/officeDocument/2006/relationships/image" Target="/ppt/media/image4.bin" Id="Rc7029fbe113f461e" /><Relationship Type="http://schemas.openxmlformats.org/officeDocument/2006/relationships/image" Target="/ppt/media/image5.bin" Id="R19d7042bf8cf4d2f" /><Relationship Type="http://schemas.openxmlformats.org/officeDocument/2006/relationships/notesSlide" Target="/ppt/notesSlides/notesSlide2.xml" Id="Ra0878f9425e142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b15f0e928477b" /><Relationship Type="http://schemas.openxmlformats.org/officeDocument/2006/relationships/notesSlide" Target="/ppt/notesSlides/notesSlide3.xml" Id="R77c1f7f5895349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dd92aab484ec1" /><Relationship Type="http://schemas.openxmlformats.org/officeDocument/2006/relationships/notesSlide" Target="/ppt/notesSlides/notesSlide4.xml" Id="Rf870fd3153fe4a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cd1b7013a44b6" /><Relationship Type="http://schemas.openxmlformats.org/officeDocument/2006/relationships/notesSlide" Target="/ppt/notesSlides/notesSlide5.xml" Id="Rb9576168deef49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d24a6cdfd43c8" /><Relationship Type="http://schemas.openxmlformats.org/officeDocument/2006/relationships/notesSlide" Target="/ppt/notesSlides/notesSlide6.xml" Id="R2a7c12e1232b43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1477262b04d42" /><Relationship Type="http://schemas.openxmlformats.org/officeDocument/2006/relationships/notesSlide" Target="/ppt/notesSlides/notesSlide7.xml" Id="Raf327e90bb0643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11e749f214a77" /><Relationship Type="http://schemas.openxmlformats.org/officeDocument/2006/relationships/image" Target="/ppt/media/image6.bin" Id="R564b1ba319c643b6" /><Relationship Type="http://schemas.openxmlformats.org/officeDocument/2006/relationships/image" Target="/ppt/media/image7.bin" Id="R20d9bf74c83e4ebf" /><Relationship Type="http://schemas.openxmlformats.org/officeDocument/2006/relationships/image" Target="/ppt/media/image8.bin" Id="Rc441ba7d887f4721" /><Relationship Type="http://schemas.openxmlformats.org/officeDocument/2006/relationships/notesSlide" Target="/ppt/notesSlides/notesSlide8.xml" Id="R622ceaab50624c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82ec0cb3d4ce7" /><Relationship Type="http://schemas.openxmlformats.org/officeDocument/2006/relationships/notesSlide" Target="/ppt/notesSlides/notesSlide9.xml" Id="R6e1803c9c58848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fe2cf14734bdd" /><Relationship Type="http://schemas.openxmlformats.org/officeDocument/2006/relationships/notesSlide" Target="/ppt/notesSlides/notesSlide10.xml" Id="R1e765b586e6744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81c97dffd4357" /><Relationship Type="http://schemas.openxmlformats.org/officeDocument/2006/relationships/notesSlide" Target="/ppt/notesSlides/notesSlide11.xml" Id="Rad892daa820f47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452a77af34843" /><Relationship Type="http://schemas.openxmlformats.org/officeDocument/2006/relationships/notesSlide" Target="/ppt/notesSlides/notesSlide12.xml" Id="R323e4846ba084f7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4890dd51140d0" /><Relationship Type="http://schemas.openxmlformats.org/officeDocument/2006/relationships/notesSlide" Target="/ppt/notesSlides/notesSlide13.xml" Id="Rdd4cb93aac774bc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9a2ef42b54ae4" /><Relationship Type="http://schemas.openxmlformats.org/officeDocument/2006/relationships/notesSlide" Target="/ppt/notesSlides/notesSlide14.xml" Id="Rf102aec7b0bc45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b5820956b4c4d" /><Relationship Type="http://schemas.openxmlformats.org/officeDocument/2006/relationships/notesSlide" Target="/ppt/notesSlides/notesSlide15.xml" Id="R5843c67c118a4f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ec7c53d5304746" /><Relationship Type="http://schemas.openxmlformats.org/officeDocument/2006/relationships/notesSlide" Target="/ppt/notesSlides/notesSlide16.xml" Id="Rce3a5e483fbe46e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c9978238f4172" /><Relationship Type="http://schemas.openxmlformats.org/officeDocument/2006/relationships/notesSlide" Target="/ppt/notesSlides/notesSlide17.xml" Id="Raf7413d8f2c1424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7d53afd784795" /><Relationship Type="http://schemas.openxmlformats.org/officeDocument/2006/relationships/notesSlide" Target="/ppt/notesSlides/notesSlide18.xml" Id="R93322db70070432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ec07f57b84ffd" /><Relationship Type="http://schemas.openxmlformats.org/officeDocument/2006/relationships/notesSlide" Target="/ppt/notesSlides/notesSlide19.xml" Id="R907104e80ab247c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d634188624654" /><Relationship Type="http://schemas.openxmlformats.org/officeDocument/2006/relationships/notesSlide" Target="/ppt/notesSlides/notesSlide20.xml" Id="R7f2deebf0c3e448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17c4c8e7b4f91" /><Relationship Type="http://schemas.openxmlformats.org/officeDocument/2006/relationships/notesSlide" Target="/ppt/notesSlides/notesSlide21.xml" Id="R08cee48ce94549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4d277645b49b4" /><Relationship Type="http://schemas.openxmlformats.org/officeDocument/2006/relationships/notesSlide" Target="/ppt/notesSlides/notesSlide22.xml" Id="R456ecadbcf184ae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e864d2221475e" /><Relationship Type="http://schemas.openxmlformats.org/officeDocument/2006/relationships/notesSlide" Target="/ppt/notesSlides/notesSlide23.xml" Id="R75cc1390385445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2fc0be01e48c4" /><Relationship Type="http://schemas.openxmlformats.org/officeDocument/2006/relationships/notesSlide" Target="/ppt/notesSlides/notesSlide24.xml" Id="Rdf300adcc563486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cb4ba5b3e49b8" /><Relationship Type="http://schemas.openxmlformats.org/officeDocument/2006/relationships/notesSlide" Target="/ppt/notesSlides/notesSlide25.xml" Id="Rabd20230fce74ed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99bd6461f4f27" /><Relationship Type="http://schemas.openxmlformats.org/officeDocument/2006/relationships/notesSlide" Target="/ppt/notesSlides/notesSlide26.xml" Id="R70e3b398c32c49e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df535330c418f" /><Relationship Type="http://schemas.openxmlformats.org/officeDocument/2006/relationships/notesSlide" Target="/ppt/notesSlides/notesSlide27.xml" Id="R2125c94cbbdf445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af59157c84b73" /><Relationship Type="http://schemas.openxmlformats.org/officeDocument/2006/relationships/notesSlide" Target="/ppt/notesSlides/notesSlide28.xml" Id="R2c9bf3b6ddde4a5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d3acc796a4322" /><Relationship Type="http://schemas.openxmlformats.org/officeDocument/2006/relationships/notesSlide" Target="/ppt/notesSlides/notesSlide29.xml" Id="Raedfb8cc7d1645e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afb3d421747b3" /><Relationship Type="http://schemas.openxmlformats.org/officeDocument/2006/relationships/notesSlide" Target="/ppt/notesSlides/notesSlide30.xml" Id="R0c2f5d6a606b459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48274cd5f4ffd" /><Relationship Type="http://schemas.openxmlformats.org/officeDocument/2006/relationships/notesSlide" Target="/ppt/notesSlides/notesSlide31.xml" Id="Raff745244f80475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e0045012643c9" /><Relationship Type="http://schemas.openxmlformats.org/officeDocument/2006/relationships/notesSlide" Target="/ppt/notesSlides/notesSlide32.xml" Id="R333d1752b90b41e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6f198e8114804" /><Relationship Type="http://schemas.openxmlformats.org/officeDocument/2006/relationships/notesSlide" Target="/ppt/notesSlides/notesSlide33.xml" Id="R0fe667ad6697436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7b1a0eb4149e2" /><Relationship Type="http://schemas.openxmlformats.org/officeDocument/2006/relationships/notesSlide" Target="/ppt/notesSlides/notesSlide34.xml" Id="Rb4e976285e16439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b3c54bf54425f" /><Relationship Type="http://schemas.openxmlformats.org/officeDocument/2006/relationships/notesSlide" Target="/ppt/notesSlides/notesSlide35.xml" Id="R832084ab82ec4a1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94c60e8454cc8" /><Relationship Type="http://schemas.openxmlformats.org/officeDocument/2006/relationships/notesSlide" Target="/ppt/notesSlides/notesSlide36.xml" Id="R8470e5fced5f435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8e8c374864ade" /><Relationship Type="http://schemas.openxmlformats.org/officeDocument/2006/relationships/notesSlide" Target="/ppt/notesSlides/notesSlide37.xml" Id="R205e05155409498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6f1f4ae494cb6" /><Relationship Type="http://schemas.openxmlformats.org/officeDocument/2006/relationships/notesSlide" Target="/ppt/notesSlides/notesSlide38.xml" Id="Re43984a905c24c8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221069fa340c0" /><Relationship Type="http://schemas.openxmlformats.org/officeDocument/2006/relationships/notesSlide" Target="/ppt/notesSlides/notesSlide39.xml" Id="R731faa84b16a450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c7e3a6225424b" /><Relationship Type="http://schemas.openxmlformats.org/officeDocument/2006/relationships/notesSlide" Target="/ppt/notesSlides/notesSlide40.xml" Id="R06ebbdea2f564b4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3a83bc8934248" /><Relationship Type="http://schemas.openxmlformats.org/officeDocument/2006/relationships/notesSlide" Target="/ppt/notesSlides/notesSlide41.xml" Id="Rba7713f83b6f451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402d9466f48c2" /><Relationship Type="http://schemas.openxmlformats.org/officeDocument/2006/relationships/notesSlide" Target="/ppt/notesSlides/notesSlide42.xml" Id="R740630c2671442b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5217bc8b5434e" /><Relationship Type="http://schemas.openxmlformats.org/officeDocument/2006/relationships/notesSlide" Target="/ppt/notesSlides/notesSlide43.xml" Id="R6f4c050c2e5d40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45436-6D4D-463F-B0F0-19714476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7E7A"/>
                </a:solidFill>
              </a:defRPr>
            </a:pPr>
            <a:r>
              <a:rPr sz="1125" b="1" i="0">
                <a:solidFill>
                  <a:srgbClr val="177E7A"/>
                </a:solidFill>
              </a:rPr>
              <a:t>PROGRESS SEMINAR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98BAE-919B-4B1C-8584-E68DDD88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47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5E"/>
                </a:solidFill>
              </a:defRPr>
            </a:pPr>
            <a:r>
              <a:rPr sz="3900" b="1" i="0">
                <a:solidFill>
                  <a:srgbClr val="173A5E"/>
                </a:solidFill>
              </a:rPr>
              <a:t>GeoDiff-GAN SR-3x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DE44B-BE49-41C2-A4DF-077244A6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647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F6B76"/>
                </a:solidFill>
              </a:defRPr>
            </a:pPr>
            <a:r>
              <a:rPr sz="1875" b="0" i="0">
                <a:solidFill>
                  <a:srgbClr val="5F6B76"/>
                </a:solidFill>
              </a:rPr>
              <a:t>Landsat 30 m to Sentinel-2 10 m super-resolution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187D9-8407-44E9-B2E9-8DAF7F6D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3B5FF-FA75-40DC-A583-D3BC327C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Progress seminar: dataset, model design and current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D796E-D5B1-4A0B-B930-6939DB41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57400"/>
            <a:ext cx="2095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93E64-AE2B-4F74-971C-248F738E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057400"/>
            <a:ext cx="2095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DF173-9F6A-470C-866A-C58243A5A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533525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08EE4-57C8-4C28-9038-961C3B69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533525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A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54D5E-93AF-4B9C-8A80-049057CD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533525"/>
            <a:ext cx="1257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5d0ac50e7403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156210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13fbff78347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3050" y="1562100"/>
            <a:ext cx="1200150" cy="120015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c1f3a6b4c49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48950" y="1562100"/>
            <a:ext cx="1200150" cy="12001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AFD37-F32D-4C88-BA93-ABB89C5B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76550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9772B"/>
                </a:solidFill>
              </a:defRPr>
            </a:pPr>
            <a:r>
              <a:rPr sz="1125" b="1" i="0">
                <a:solidFill>
                  <a:srgbClr val="D9772B"/>
                </a:solidFill>
              </a:rPr>
              <a:t>Landsat</a:t>
            </a:r>
          </a:p>
          <a:p xmlns:a="http://schemas.openxmlformats.org/drawingml/2006/main">
            <a:pPr algn="ctr">
              <a:defRPr sz="1125" b="1" i="0">
                <a:solidFill>
                  <a:srgbClr val="D9772B"/>
                </a:solidFill>
              </a:defRPr>
            </a:pPr>
            <a:r>
              <a:rPr sz="1125" b="1" i="0">
                <a:solidFill>
                  <a:srgbClr val="D9772B"/>
                </a:solidFill>
              </a:rPr>
              <a:t>30 m 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38D5E-6795-4807-A427-2A5BBBA2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765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A5E"/>
                </a:solidFill>
              </a:defRPr>
            </a:pPr>
            <a:r>
              <a:rPr sz="1125" b="1" i="0">
                <a:solidFill>
                  <a:srgbClr val="173A5E"/>
                </a:solidFill>
              </a:rPr>
              <a:t>GeoDiff-GAN</a:t>
            </a:r>
          </a:p>
          <a:p xmlns:a="http://schemas.openxmlformats.org/drawingml/2006/main">
            <a:pPr algn="ctr">
              <a:defRPr sz="1125" b="1" i="0">
                <a:solidFill>
                  <a:srgbClr val="173A5E"/>
                </a:solidFill>
              </a:defRPr>
            </a:pPr>
            <a:r>
              <a:rPr sz="1125" b="1" i="0">
                <a:solidFill>
                  <a:srgbClr val="173A5E"/>
                </a:solidFill>
              </a:rPr>
              <a:t>10 m estimate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8377D-9EFC-4F2C-8791-BD26E8A6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765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7E7A"/>
                </a:solidFill>
              </a:defRPr>
            </a:pPr>
            <a:r>
              <a:rPr sz="1125" b="1" i="0">
                <a:solidFill>
                  <a:srgbClr val="177E7A"/>
                </a:solidFill>
              </a:rPr>
              <a:t>Sentinel-2</a:t>
            </a:r>
          </a:p>
          <a:p xmlns:a="http://schemas.openxmlformats.org/drawingml/2006/main">
            <a:pPr algn="ctr">
              <a:defRPr sz="1125" b="1" i="0">
                <a:solidFill>
                  <a:srgbClr val="177E7A"/>
                </a:solidFill>
              </a:defRPr>
            </a:pPr>
            <a:r>
              <a:rPr sz="1125" b="1" i="0">
                <a:solidFill>
                  <a:srgbClr val="177E7A"/>
                </a:solidFill>
              </a:rPr>
              <a:t>10 m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C7D639-B81B-41F1-A5A8-0A45881F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959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[Your Name]  |  [Enrollment No.]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3253DF-C884-4DD4-8C59-E78E1A64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647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B76"/>
                </a:solidFill>
              </a:defRPr>
            </a:pPr>
            <a:r>
              <a:rPr sz="1275" b="0" i="0">
                <a:solidFill>
                  <a:srgbClr val="5F6B76"/>
                </a:solidFill>
              </a:rPr>
              <a:t>[Department]  |  [Supervisor]  |  [Date]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05027-6D0B-496B-A7D1-1213E776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05550"/>
            <a:ext cx="10782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9118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52ABA1-89F5-472F-92B2-15FC5FCD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CONTEXT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EA31F2-B938-47F9-9B6A-FBBE0A81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Why 3x super-resolution is an ill-posed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7D6A8-324D-4748-A1C1-1F31B988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E384A-5BA3-4EBB-B625-B0C5F2DD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EC465-1632-4D40-85E9-87E64E97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39125-99AE-4BEA-91D9-973D76C2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371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D9772B"/>
                </a:solidFill>
              </a:defRPr>
            </a:pPr>
            <a:r>
              <a:rPr sz="1650" b="1" i="0">
                <a:solidFill>
                  <a:srgbClr val="D9772B"/>
                </a:solidFill>
              </a:rPr>
              <a:t>Landsat input | 30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75DB9-C82A-42CC-AE61-761B2205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71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77E7A"/>
                </a:solidFill>
              </a:defRPr>
            </a:pPr>
            <a:r>
              <a:rPr sz="1650" b="1" i="0">
                <a:solidFill>
                  <a:srgbClr val="177E7A"/>
                </a:solidFill>
              </a:rPr>
              <a:t>Sentinel reference | 10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30BBC-E714-4CA0-9991-8E37F7CA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724025"/>
            <a:ext cx="3524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CA883-F437-4F16-8023-9C1B56FC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724025"/>
            <a:ext cx="35242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29fbe113f46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52550" y="1771650"/>
            <a:ext cx="3429000" cy="3429000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7042bf8cf4d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0450" y="17716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94CF7E-6257-4712-91BD-335EF005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14650"/>
            <a:ext cx="114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77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93846-9E40-41D0-BDC0-0ADDC8E8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33750"/>
            <a:ext cx="1352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8000F-48D1-40A7-86E0-3C6817E3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9085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same ground area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E2264-7ED8-4F9E-A7F2-532685AB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14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43316-8219-4276-A239-45CB22DF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96A55B-2781-4CB8-845C-DBB888AD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14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EAB89-E11E-4ADA-B657-F732E351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95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442725-B7D8-470D-BC2B-47169615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95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22E01-88CE-4715-BB4B-F326D970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95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B5BE0-107A-41D9-801D-2CD59782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76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A54A94-D2DD-4A5D-BEC2-017ED49B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93177-108E-4530-AF09-2A89BB16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766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0EE32-761E-40EF-A90A-AEF21DD5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959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9772B"/>
                </a:solidFill>
              </a:defRPr>
            </a:pPr>
            <a:r>
              <a:rPr sz="1275" b="1" i="0">
                <a:solidFill>
                  <a:srgbClr val="D9772B"/>
                </a:solidFill>
              </a:rPr>
              <a:t>1 Landsat sample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5B209F-01DC-4A82-B997-4EC5BA68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2959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7E7A"/>
                </a:solidFill>
              </a:defRPr>
            </a:pPr>
            <a:r>
              <a:rPr sz="1275" b="1" i="0">
                <a:solidFill>
                  <a:srgbClr val="177E7A"/>
                </a:solidFill>
              </a:rPr>
              <a:t>9 Sentinel samples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8BA9C-FAD4-4B1B-8927-9BD48102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912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7806D3-47DE-4BE1-B5AB-827ADA2F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10250"/>
            <a:ext cx="902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One 30 m measurement constrains, but does not determine, the nine 10 m values.</a:t>
            </a:r>
          </a:p>
        </p:txBody>
      </p:sp>
    </p:spTree>
    <p:extLst>
      <p:ext uri="{BB962C8B-B14F-4D97-AF65-F5344CB8AC3E}">
        <p14:creationId xmlns:p14="http://schemas.microsoft.com/office/powerpoint/2010/main" val="1741824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50279-5275-4AF9-815E-FF7607CA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CONTEXT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D3C0C0-05D5-4CA8-8092-8FE704AD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Spatial sampling: Landsat 30 m and Sentinel-2 10 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43EE7-579B-417A-AF3C-62D4C991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AAA2E-916C-476B-93E1-0B3ADF02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B7B9D-8B55-4056-B8A7-3E9122D9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52735-2639-4D26-8B2B-F71C58FC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9772B"/>
                </a:solidFill>
              </a:defRPr>
            </a:pPr>
            <a:r>
              <a:rPr sz="1800" b="1" i="0">
                <a:solidFill>
                  <a:srgbClr val="D9772B"/>
                </a:solidFill>
              </a:rPr>
              <a:t>Landsat 8/9 OLI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CAA3E-509C-45DE-B256-A55EE153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069EC-7C6E-4B75-996D-9FC8BB0C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D9772B"/>
                </a:solidFill>
              </a:defRPr>
            </a:pPr>
            <a:r>
              <a:rPr sz="3900" b="1" i="0">
                <a:solidFill>
                  <a:srgbClr val="D9772B"/>
                </a:solidFill>
              </a:rPr>
              <a:t>30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39AC6-6C9A-446D-9D1E-3B6B1C18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B76"/>
                </a:solidFill>
              </a:defRPr>
            </a:pPr>
            <a:r>
              <a:rPr sz="1575" b="0" i="0">
                <a:solidFill>
                  <a:srgbClr val="5F6B76"/>
                </a:solidFill>
              </a:rPr>
              <a:t>RGB, NIR and SWIR bands used 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E4613-6D20-472B-AFAD-15770C08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764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7E7A"/>
                </a:solidFill>
              </a:defRPr>
            </a:pPr>
            <a:r>
              <a:rPr sz="1800" b="1" i="0">
                <a:solidFill>
                  <a:srgbClr val="177E7A"/>
                </a:solidFill>
              </a:rPr>
              <a:t>Sentinel-2 MSI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71046-29B6-4C1B-9057-F9C05AEA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19300"/>
            <a:ext cx="419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D650D-318F-4791-91DD-32C4C870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7E7A"/>
                </a:solidFill>
              </a:defRPr>
            </a:pPr>
            <a:r>
              <a:rPr sz="3900" b="1" i="0">
                <a:solidFill>
                  <a:srgbClr val="177E7A"/>
                </a:solidFill>
              </a:rPr>
              <a:t>10 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ED918-12CA-4FDB-9788-18B5E1DB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43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B76"/>
                </a:solidFill>
              </a:defRPr>
            </a:pPr>
            <a:r>
              <a:rPr sz="1575" b="0" i="0">
                <a:solidFill>
                  <a:srgbClr val="5F6B76"/>
                </a:solidFill>
              </a:rPr>
              <a:t>RGB reference bands B4 / B3 / B2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9B17C-48CD-4821-9AB2-8AB12CC6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764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A92BC-9EFB-48EE-BB6C-6AC9F929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DBCC6-E470-4DAA-9BEA-278CF1AA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815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933"/>
                </a:solidFill>
              </a:defRPr>
            </a:pPr>
            <a:r>
              <a:rPr sz="1575" b="1" i="0">
                <a:solidFill>
                  <a:srgbClr val="1F2933"/>
                </a:solidFill>
              </a:rPr>
              <a:t>A smaller pixel spacing improves spatial sampling only. Spectral, radiometric and temporal resolution are separate properties.</a:t>
            </a:r>
          </a:p>
        </p:txBody>
      </p:sp>
    </p:spTree>
    <p:extLst>
      <p:ext uri="{BB962C8B-B14F-4D97-AF65-F5344CB8AC3E}">
        <p14:creationId xmlns:p14="http://schemas.microsoft.com/office/powerpoint/2010/main" val="1840367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F60638-79D5-4626-8C2C-CD1653E0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CONTEXT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30C72E-0D5D-4A12-8EB3-DD04F394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Super-resolution and interpolation are not the same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F3E25-7FB7-4721-BB11-A86533DE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73F2F-F475-42D2-99F2-78DB8EDE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A0668-B1DF-46B6-B461-FA9097E3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FB998-8E6D-423B-B917-8A71D8AE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1047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3F2A1-3F6D-4726-BA6C-5EF81DD7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81300"/>
            <a:ext cx="1047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A2AA0-A0DD-42B1-B2C6-06172B2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17ED4-54DE-48B6-B41F-96D16914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0F85F-69DA-4EA9-9DB8-3D1D588D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574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LR measurement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4D335-27B5-4E1D-A90F-CF0402CD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0325"/>
            <a:ext cx="1905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 x 128 x 128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actual Landsat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8BA2C-90C6-4691-A22B-889D5C31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43125"/>
            <a:ext cx="2724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94565-0CBA-47EE-BB68-5CCD4E20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43125"/>
            <a:ext cx="2724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81AF9-94F8-413C-AFA9-44A9DD5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57425"/>
            <a:ext cx="2495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Learned prior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B3A61-BB1F-4DEE-801C-1D4462F1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00325"/>
            <a:ext cx="25336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patterns from aligned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training pairs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5EB31-3F93-4D0D-9184-BF9D7D67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2762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87CB81-22D8-4A0B-A302-1F4731A5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3E750-6149-4FB7-8879-313D5115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57425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HR estimate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8BBA3-21B8-4C11-AD62-CA9F6956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0325"/>
            <a:ext cx="257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 x 384 x 384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Sentinel-like RGB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FA5BA-FB98-499F-B3D3-F3FAF1B7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5F6B76"/>
                </a:solidFill>
              </a:defRPr>
            </a:pPr>
            <a:r>
              <a:rPr sz="1725" b="1" i="0">
                <a:solidFill>
                  <a:srgbClr val="5F6B76"/>
                </a:solidFill>
              </a:rPr>
              <a:t>Bicubic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7C7785-185A-48DE-B56B-44F650F9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19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7E7A"/>
                </a:solidFill>
              </a:defRPr>
            </a:pPr>
            <a:r>
              <a:rPr sz="1725" b="1" i="0">
                <a:solidFill>
                  <a:srgbClr val="177E7A"/>
                </a:solidFill>
              </a:rPr>
              <a:t>Learned SR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1D7B6-2375-4811-A193-D8A7E91F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090F7D-4C45-4791-A82B-CCCDAEA6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Bicubic changes the array size but adds no measured detail.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65ED6-EFBE-4AC5-9D8A-CFEE735C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ED8C88-CDFF-44C6-999C-9B8289E8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Learned SR estimates detail from training data and must be tested.</a:t>
            </a:r>
          </a:p>
        </p:txBody>
      </p:sp>
    </p:spTree>
    <p:extLst>
      <p:ext uri="{BB962C8B-B14F-4D97-AF65-F5344CB8AC3E}">
        <p14:creationId xmlns:p14="http://schemas.microsoft.com/office/powerpoint/2010/main" val="2130345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FDC60-43A5-4045-8985-7F9FF7E1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CONTEXT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151727-3931-43CF-A46C-2F7BEC53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When is satellite image super-resolution useful?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30867-6FE3-47D7-9900-338B89DD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B37C5-4ED8-4054-B0E6-B5B52490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442CA-2518-430C-A2EE-0F010F40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EBA8B-CFB9-41B3-8CD2-D65574AF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62BFD-BAA1-4E59-9FF2-14C06A99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1003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F2933"/>
                </a:solidFill>
              </a:defRPr>
            </a:pPr>
            <a:r>
              <a:rPr sz="1575" b="0" i="0">
                <a:solidFill>
                  <a:srgbClr val="1F2933"/>
                </a:solidFill>
              </a:rPr>
              <a:t>Historical continuity: Landsat provides a long archive for retrospective studies.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27862-9300-4501-891B-C89CAB36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F2550-BE9B-4718-BC11-B1470408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1003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F2933"/>
                </a:solidFill>
              </a:defRPr>
            </a:pPr>
            <a:r>
              <a:rPr sz="1575" b="0" i="0">
                <a:solidFill>
                  <a:srgbClr val="1F2933"/>
                </a:solidFill>
              </a:rPr>
              <a:t>Clouds, acquisition gaps, and timing can remove the desired Sentinel observation.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FDD69B-AAE3-44E4-AF28-9CBB55EA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E7750-5B01-4165-9DD1-A261569E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1003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F2933"/>
                </a:solidFill>
              </a:defRPr>
            </a:pPr>
            <a:r>
              <a:rPr sz="1575" b="0" i="0">
                <a:solidFill>
                  <a:srgbClr val="1F2933"/>
                </a:solidFill>
              </a:rPr>
              <a:t>Commercial very-high-resolution imagery may be restricted or expensive.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54CBF-9DA5-4C0E-82CC-1EB73ED8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BE73E-237C-4B05-A965-179570FD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67150"/>
            <a:ext cx="1003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F2933"/>
                </a:solidFill>
              </a:defRPr>
            </a:pPr>
            <a:r>
              <a:rPr sz="1575" b="0" i="0">
                <a:solidFill>
                  <a:srgbClr val="1F2933"/>
                </a:solidFill>
              </a:rPr>
              <a:t>A consistent lower-resolution record may exist when the higher-resolution record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8BD7CD-8F5F-40C5-AFF0-629D2AF2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69A51-3922-4E58-93F0-7B0A0343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816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Use the observed Sentinel-2 image whenever a valid scene is available for the required place and date.</a:t>
            </a:r>
          </a:p>
        </p:txBody>
      </p:sp>
    </p:spTree>
    <p:extLst>
      <p:ext uri="{BB962C8B-B14F-4D97-AF65-F5344CB8AC3E}">
        <p14:creationId xmlns:p14="http://schemas.microsoft.com/office/powerpoint/2010/main" val="1617951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A15859-DE10-4161-BBC4-B508E7E9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CONTEXT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59C564-6CF7-4697-B314-ED095108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Intended use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A4B0E-217E-490B-BD6A-57F11A8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925E6-B1EB-4C31-A6D9-09C8F246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A25C4-BD6F-4F03-8EAD-1448C4D8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0FE30-AB84-4622-9FBA-E0BDD772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7E7A"/>
                </a:solidFill>
              </a:defRPr>
            </a:pPr>
            <a:r>
              <a:rPr sz="1800" b="1" i="0">
                <a:solidFill>
                  <a:srgbClr val="177E7A"/>
                </a:solidFill>
              </a:rPr>
              <a:t>Potential uses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CA114-333B-4D67-9740-15C11386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18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F32ED-5CBA-4974-907E-6A4B9697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9772B"/>
                </a:solidFill>
              </a:defRPr>
            </a:pPr>
            <a:r>
              <a:rPr sz="1800" b="1" i="0">
                <a:solidFill>
                  <a:srgbClr val="D9772B"/>
                </a:solidFill>
              </a:rPr>
              <a:t>Do not use alone for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EB60C-15D5-4DD4-A1B2-332D42CF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518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371B3-C58C-4E61-8E68-49888F6B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34AFB-EA58-4AC5-9730-9D36012C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Change screening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D9485-9E99-409D-AF83-E93FE96C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91C95-238D-4D8C-B6E5-6467E95C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Field and urban boundary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770699-7FC7-49B3-B0B9-38C2240A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98741-3899-4839-9AC4-60ABF7ED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Coastline and water-body delineation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915F47-E7C8-4F66-BF45-939D223D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A2DCE5-4755-41B0-B08A-4ADA9930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Downstream research inputs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AA83C-3A34-4022-8179-E32FA3D8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B12E8-E0D2-4EE4-B65E-6D24983B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Legal boundaries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52BB8-B5C1-4AD6-9816-AA4A6A1C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092591-E574-4153-8EAE-144CF755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Property disputes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6B3E9-3150-4647-809E-F16570AE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8037C-518C-4663-8B46-36156141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Navigation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62D261-68DA-42DF-9D32-6A15B805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90E0B-FAD5-4F8C-9905-E527034B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Safety-critical decisions</a:t>
            </a:r>
          </a:p>
        </p:txBody>
      </p:sp>
    </p:spTree>
    <p:extLst>
      <p:ext uri="{BB962C8B-B14F-4D97-AF65-F5344CB8AC3E}">
        <p14:creationId xmlns:p14="http://schemas.microsoft.com/office/powerpoint/2010/main" val="9570934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B8672-E407-41A8-A209-3AEE3D67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CONTEXT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2C9A8E-0E85-4F81-9D01-87112A50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What the model can and cannot estimate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47D83-4091-4D09-903E-2F9C13A5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FB86B-F839-46F8-845D-29497E0D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DF8DB-CA99-4F1A-AF3A-CCA5C7A4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81326-1714-4D31-8ED3-FC0C20FB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7E7A"/>
                </a:solidFill>
              </a:defRPr>
            </a:pPr>
            <a:r>
              <a:rPr sz="1800" b="1" i="0">
                <a:solidFill>
                  <a:srgbClr val="177E7A"/>
                </a:solidFill>
              </a:rPr>
              <a:t>Can estimate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72A62-788D-4F33-BBBA-C0FDC806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18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52175-5292-4E57-85D8-811E0270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9772B"/>
                </a:solidFill>
              </a:defRPr>
            </a:pPr>
            <a:r>
              <a:rPr sz="1800" b="1" i="0">
                <a:solidFill>
                  <a:srgbClr val="D9772B"/>
                </a:solidFill>
              </a:rPr>
              <a:t>Cannot guarantee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BB039-1C06-4A77-8AB3-96E3E2E6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518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EF4C8-6963-4BFC-992A-5BF02DC5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91B2F-4451-4CB7-A7E5-71A42E2F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Likely high-frequency 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A2A03-BD33-4F90-9A3B-0CB9E5B0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3D28E-2BF8-4B23-8D24-2F67A339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Similarity to paired references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7FE1A-9678-43BB-B020-0FB89071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1FA46-7600-4B93-B71B-9D5F327A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Uncertainty across samples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196D0-F04C-47CD-8042-5837AA09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9BC3B1-10E7-43E5-BA3C-3590EDB6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Approximate LR evidence consistency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2CAA7-497A-4D3E-9AB0-002D1B10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D6B79-3EDA-4EC6-8888-C0AD1BD6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Every generated edge is real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50CF5B-F882-4429-B418-50D8D9F8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165FF-B22A-408C-89D2-32541D46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Information measured nowhere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5DEE7-F961-49DF-B6DD-DF2DCDBC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927A6-5159-4B1F-820B-E2099149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Correction of bad registration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3C2F1-0DFB-4008-B4BB-A94AD1EE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7FBF04-F432-475F-A11D-DC5546CC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Zero uncertainty</a:t>
            </a:r>
          </a:p>
        </p:txBody>
      </p:sp>
    </p:spTree>
    <p:extLst>
      <p:ext uri="{BB962C8B-B14F-4D97-AF65-F5344CB8AC3E}">
        <p14:creationId xmlns:p14="http://schemas.microsoft.com/office/powerpoint/2010/main" val="659288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C209B-4BCA-4F45-B0C7-A34EA5BD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A65189-3F24-4E54-9FB4-1460BFA7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Research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6AEB5-6B41-4D19-AFA9-9F8DD50B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3A32F-FE81-445E-9F26-222C0DB8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B778A-05FB-4F03-8A36-F6597142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08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b1ba319c643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" y="1562100"/>
            <a:ext cx="2247900" cy="224790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9bf74c83e4eb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2050" y="1562100"/>
            <a:ext cx="2247900" cy="2247900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1ba7d887f472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1562100"/>
            <a:ext cx="2247900" cy="2247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73085-F244-4D3E-8CAA-930419B1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09850"/>
            <a:ext cx="1066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C6E72-C391-43DF-A5F1-A38D5751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10668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49EED2-5263-42C2-8401-F611FA50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73A5E"/>
                </a:solidFill>
              </a:defRPr>
            </a:pPr>
            <a:r>
              <a:rPr sz="1050" b="0" i="1">
                <a:solidFill>
                  <a:srgbClr val="173A5E"/>
                </a:solidFill>
              </a:rPr>
              <a:t>f_theta(y_L, optional MS)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64C6E-BB0D-48C3-B277-09BC7135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24100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77E7A"/>
                </a:solidFill>
              </a:defRPr>
            </a:pPr>
            <a:r>
              <a:rPr sz="1050" b="0" i="1">
                <a:solidFill>
                  <a:srgbClr val="177E7A"/>
                </a:solidFill>
              </a:rPr>
              <a:t>paired 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639B9-0AD9-4DA1-A8B8-329FB1AA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9772B"/>
                </a:solidFill>
              </a:defRPr>
            </a:pPr>
            <a:r>
              <a:rPr sz="1275" b="1" i="0">
                <a:solidFill>
                  <a:srgbClr val="D9772B"/>
                </a:solidFill>
              </a:rPr>
              <a:t>(a)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CC835-D201-4105-A051-C0E6BA0A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433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9772B"/>
                </a:solidFill>
              </a:defRPr>
            </a:pPr>
            <a:r>
              <a:rPr sz="1275" b="0" i="0">
                <a:solidFill>
                  <a:srgbClr val="D9772B"/>
                </a:solidFill>
              </a:rPr>
              <a:t>Landsat L2 RGB</a:t>
            </a:r>
          </a:p>
          <a:p xmlns:a="http://schemas.openxmlformats.org/drawingml/2006/main">
            <a:pPr algn="l">
              <a:defRPr sz="1275" b="0" i="0">
                <a:solidFill>
                  <a:srgbClr val="D9772B"/>
                </a:solidFill>
              </a:defRPr>
            </a:pPr>
            <a:r>
              <a:rPr sz="1275" b="0" i="0">
                <a:solidFill>
                  <a:srgbClr val="D9772B"/>
                </a:solidFill>
              </a:rPr>
              <a:t>30 m | 3 x 128 x 128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21446-BC02-4DE1-9C9F-E2931687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43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5E"/>
                </a:solidFill>
              </a:defRPr>
            </a:pPr>
            <a:r>
              <a:rPr sz="1275" b="1" i="0">
                <a:solidFill>
                  <a:srgbClr val="173A5E"/>
                </a:solidFill>
              </a:rPr>
              <a:t>(b)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D49F5-4A87-4888-8CFC-4D9EBA35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3A5E"/>
                </a:solidFill>
              </a:defRPr>
            </a:pPr>
            <a:r>
              <a:rPr sz="1275" b="0" i="0">
                <a:solidFill>
                  <a:srgbClr val="173A5E"/>
                </a:solidFill>
              </a:rPr>
              <a:t>GeoDiff-GAN estimate</a:t>
            </a:r>
          </a:p>
          <a:p xmlns:a="http://schemas.openxmlformats.org/drawingml/2006/main">
            <a:pPr algn="l">
              <a:defRPr sz="1275" b="0" i="0">
                <a:solidFill>
                  <a:srgbClr val="173A5E"/>
                </a:solidFill>
              </a:defRPr>
            </a:pPr>
            <a:r>
              <a:rPr sz="1275" b="0" i="0">
                <a:solidFill>
                  <a:srgbClr val="173A5E"/>
                </a:solidFill>
              </a:rPr>
              <a:t>10 m | 3 x 384 x 384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31653-B843-4980-8D25-D865DEBE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43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7E7A"/>
                </a:solidFill>
              </a:defRPr>
            </a:pPr>
            <a:r>
              <a:rPr sz="1275" b="1" i="0">
                <a:solidFill>
                  <a:srgbClr val="177E7A"/>
                </a:solidFill>
              </a:rPr>
              <a:t>(c)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EFCF44-D3EB-41FC-B4B9-51A92268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943350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7E7A"/>
                </a:solidFill>
              </a:defRPr>
            </a:pPr>
            <a:r>
              <a:rPr sz="1275" b="0" i="0">
                <a:solidFill>
                  <a:srgbClr val="177E7A"/>
                </a:solidFill>
              </a:rPr>
              <a:t>Sentinel-2 L2A reference</a:t>
            </a:r>
          </a:p>
          <a:p xmlns:a="http://schemas.openxmlformats.org/drawingml/2006/main">
            <a:pPr algn="l">
              <a:defRPr sz="1275" b="0" i="0">
                <a:solidFill>
                  <a:srgbClr val="177E7A"/>
                </a:solidFill>
              </a:defRPr>
            </a:pPr>
            <a:r>
              <a:rPr sz="1275" b="0" i="0">
                <a:solidFill>
                  <a:srgbClr val="177E7A"/>
                </a:solidFill>
              </a:rPr>
              <a:t>10 m | 3 x 384 x 384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CDB69C-3D01-4F22-BBA8-9C4956A2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B316C4-18BA-43FE-B3EF-DD03CF77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Task definition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06DB5-E5F9-4441-BC22-901676DF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8724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Estimate the paired Sentinel-like RGB field from the co-registered Landsat measurement; the reference is a different sensor observation, not hidden Landsat truth.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A9854-7F00-4878-87AF-331F8746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388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5FE975-3443-41B9-BA26-9A421642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57850"/>
            <a:ext cx="887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Success criterion: the complete model must improve test PSNR and SSIM over its own SwinIR base.</a:t>
            </a:r>
          </a:p>
        </p:txBody>
      </p:sp>
    </p:spTree>
    <p:extLst>
      <p:ext uri="{BB962C8B-B14F-4D97-AF65-F5344CB8AC3E}">
        <p14:creationId xmlns:p14="http://schemas.microsoft.com/office/powerpoint/2010/main" val="1595300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14B0DB-8D08-4F8F-9511-D790D4A9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D8D708-6F18-4C62-AA6B-9E118DB1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Development of 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C63B4-0B23-44F2-94F0-456CB672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CA931-70D3-467B-A6C0-44BC673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AB09E-C9D4-4BA1-959F-3B2A0320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07481-A76B-4362-AD9F-C73EC841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33600"/>
            <a:ext cx="96583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F5367-2CD6-4CAA-86AF-A71223BE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390650"/>
            <a:ext cx="952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E18A7-0C32-421E-ACBC-8EEFDD7E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90650"/>
            <a:ext cx="952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CC420-9020-4CDD-89B0-C2DED890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F6B76"/>
                </a:solidFill>
              </a:defRPr>
            </a:pPr>
            <a:r>
              <a:rPr sz="1275" b="1" i="0">
                <a:solidFill>
                  <a:srgbClr val="5F6B76"/>
                </a:solidFill>
              </a:rPr>
              <a:t>Phase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9C8C4-D6E5-484F-9F24-12FDAF53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3A5E"/>
                </a:solidFill>
              </a:defRPr>
            </a:pPr>
            <a:r>
              <a:rPr sz="1725" b="1" i="0">
                <a:solidFill>
                  <a:srgbClr val="173A5E"/>
                </a:solidFill>
              </a:rPr>
              <a:t>Synthetic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B2666-25B5-434A-977F-F58740A2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1943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F6B7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D1FF4-B85B-4B62-BFDC-FE4AE6ED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038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6B76"/>
                </a:solidFill>
              </a:defRPr>
            </a:pPr>
            <a:r>
              <a:rPr sz="1500" b="1" i="0">
                <a:solidFill>
                  <a:srgbClr val="5F6B76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1CCF3-CFC8-4518-B6D7-CC44FC47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B76"/>
                </a:solidFill>
              </a:defRPr>
            </a:pPr>
            <a:r>
              <a:rPr sz="1200" b="1" i="0">
                <a:solidFill>
                  <a:srgbClr val="5F6B76"/>
                </a:solidFill>
              </a:rPr>
              <a:t>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4AF04-1B95-42C3-8B44-6061CCA2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Does the 4x system train end to end?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5B6E6-56F0-4AD1-B6C8-9CB46956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79742-D766-4BA7-955A-3E1163D6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B76"/>
                </a:solidFill>
              </a:defRPr>
            </a:pPr>
            <a:r>
              <a:rPr sz="1200" b="1" i="0">
                <a:solidFill>
                  <a:srgbClr val="5F6B76"/>
                </a:solidFill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1997C-0B4D-4A04-8DEF-7B8B9FDC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Sentinel 40 m -&gt; 10 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0CFE2-D359-4A30-9A92-499B83AF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B76"/>
                </a:solidFill>
              </a:defRPr>
            </a:pPr>
            <a:r>
              <a:rPr sz="1200" b="1" i="0">
                <a:solidFill>
                  <a:srgbClr val="5F6B76"/>
                </a:solidFill>
              </a:rPr>
              <a:t>Finding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DACD8-3DD3-4A5E-8A81-74ACE81F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Established architecture, staged training and diagnostics.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E71C5-000F-417D-B775-10A3C432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9772B"/>
                </a:solidFill>
              </a:defRPr>
            </a:pPr>
            <a:r>
              <a:rPr sz="1275" b="1" i="0">
                <a:solidFill>
                  <a:srgbClr val="D9772B"/>
                </a:solidFill>
              </a:rPr>
              <a:t>Phase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28A9B-91B7-49DA-A0DB-C9A1AEC4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573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3A5E"/>
                </a:solidFill>
              </a:defRPr>
            </a:pPr>
            <a:r>
              <a:rPr sz="1725" b="1" i="0">
                <a:solidFill>
                  <a:srgbClr val="173A5E"/>
                </a:solidFill>
              </a:rPr>
              <a:t>Real cross-sensor task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D395D-0F30-4BAB-B39D-B4D4BD79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943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77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7BEBC2-F525-4D13-8C05-F22A1604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38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E85C0F-3597-4D06-8CCE-BAF810A2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772B"/>
                </a:solidFill>
              </a:defRPr>
            </a:pPr>
            <a:r>
              <a:rPr sz="1200" b="1" i="0">
                <a:solidFill>
                  <a:srgbClr val="D9772B"/>
                </a:solidFill>
              </a:rPr>
              <a:t>Aim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DD64E-31B1-40BD-97AF-591ED27A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9085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Can Landsat 30 m predict Sentinel 10 m?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75C847-734B-4EA1-91C5-37C6BEB8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D4F8C-76A8-413D-83F9-E599453E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909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772B"/>
                </a:solidFill>
              </a:defRPr>
            </a:pPr>
            <a:r>
              <a:rPr sz="1200" b="1" i="0">
                <a:solidFill>
                  <a:srgbClr val="D9772B"/>
                </a:solidFill>
              </a:rPr>
              <a:t>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17AB63-239C-4F07-AF18-053BA71D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576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Landsat L2 -&gt; Sentinel-2 L2A | 3x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A126B-9940-47F7-8AC3-BED600BC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291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9772B"/>
                </a:solidFill>
              </a:defRPr>
            </a:pPr>
            <a:r>
              <a:rPr sz="1200" b="1" i="0">
                <a:solidFill>
                  <a:srgbClr val="D9772B"/>
                </a:solidFill>
              </a:rPr>
              <a:t>Finding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074B98-A982-42FA-AF04-573B9CA0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958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Exposed registration, temporal and radiometric mismatch.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538EC0-30C8-44CC-8B78-C4B4CBEF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7E7A"/>
                </a:solidFill>
              </a:defRPr>
            </a:pPr>
            <a:r>
              <a:rPr sz="1275" b="1" i="0">
                <a:solidFill>
                  <a:srgbClr val="177E7A"/>
                </a:solidFill>
              </a:rPr>
              <a:t>Phase 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7B72D9-7DBE-4C0B-8E3D-CF1E8435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3A5E"/>
                </a:solidFill>
              </a:defRPr>
            </a:pPr>
            <a:r>
              <a:rPr sz="1725" b="1" i="0">
                <a:solidFill>
                  <a:srgbClr val="173A5E"/>
                </a:solidFill>
              </a:rPr>
              <a:t>Controlled harmonization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6A4F17-3D9F-4130-9158-C67C59D0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9431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177E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1301AA-18F5-4A0E-B7AC-58ACE0B0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038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85CC67-C926-4F0E-A049-28391866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7E7A"/>
                </a:solidFill>
              </a:defRPr>
            </a:pPr>
            <a:r>
              <a:rPr sz="1200" b="1" i="0">
                <a:solidFill>
                  <a:srgbClr val="177E7A"/>
                </a:solidFill>
              </a:rPr>
              <a:t>Aim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68488F-BBEF-4C97-8054-BCCCF884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90850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Can calibrated RGB and MS guidance beat the base?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51DA44-85B8-40AF-820C-16AE3C08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289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7E316F-71D9-4258-86F6-92A99F0A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7E7A"/>
                </a:solidFill>
              </a:defRPr>
            </a:pPr>
            <a:r>
              <a:rPr sz="1200" b="1" i="0">
                <a:solidFill>
                  <a:srgbClr val="177E7A"/>
                </a:solidFill>
              </a:rPr>
              <a:t>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300412-BFBA-445B-9CAC-C68BA3CD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RGB base + NIR/SWIR residual guidance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02D9AB-C0AD-49A7-B55E-039BAA3B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2895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7E7A"/>
                </a:solidFill>
              </a:defRPr>
            </a:pPr>
            <a:r>
              <a:rPr sz="1200" b="1" i="0">
                <a:solidFill>
                  <a:srgbClr val="177E7A"/>
                </a:solidFill>
              </a:rPr>
              <a:t>Finding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8800B9-DFE4-4913-A4C6-C9800F3D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958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Current test: held-out PSNR/SSIM and intervention ablations.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7E5400-DD2E-4223-9DD3-7978AC68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721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D988F2-B460-4519-AD4A-E469BBDA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912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Each phase used more realistic data and exposed a different source of error.</a:t>
            </a:r>
          </a:p>
        </p:txBody>
      </p:sp>
    </p:spTree>
    <p:extLst>
      <p:ext uri="{BB962C8B-B14F-4D97-AF65-F5344CB8AC3E}">
        <p14:creationId xmlns:p14="http://schemas.microsoft.com/office/powerpoint/2010/main" val="8458619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9633AB1-ECCE-4A22-8587-08BBF96A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DATA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B0AFAB-A840-4658-B9D2-8986880F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Sources of Landsat-Sentinel mismatch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9B837-6BEC-43B7-800E-48EC35C6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5426F-320B-446E-AE75-B8C40C57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4F334-B789-49B8-B442-59FDEEC3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6B326-90CE-4DFA-B973-F00EE299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7E7A"/>
                </a:solidFill>
              </a:defRPr>
            </a:pPr>
            <a:r>
              <a:rPr sz="1275" b="1" i="0">
                <a:solidFill>
                  <a:srgbClr val="177E7A"/>
                </a:solidFill>
              </a:rPr>
              <a:t>Sensor 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F90E3-8B27-4CF7-B9DE-C71565A7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314450"/>
            <a:ext cx="901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y_s = Q_s { P_s * sum_lambda R_s(lambda) L(x, lambda, t) } + e_s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0D9E8-9362-4163-BE24-675DFFDF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BFFA6-6B5F-4F26-B39E-AFE9ED60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9772B"/>
                </a:solidFill>
              </a:defRPr>
            </a:pPr>
            <a:r>
              <a:rPr sz="1275" b="1" i="0">
                <a:solidFill>
                  <a:srgbClr val="D9772B"/>
                </a:solidFill>
              </a:rPr>
              <a:t>Observed pair difference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DE90A-93B6-4243-9C5F-E589E859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859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d_obs = y_S2 - W(y_L8) = d_sp + d_spec + d_rad + d_time + 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456AA-B31E-4577-B902-1D5D2097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193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B5CA1-9871-4630-B5BA-3C96BC9C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BAF4A-B7A9-4C44-B112-DB871D9E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193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ED51D-018F-4DBD-A8A8-386A7552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362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FB9FB-F960-400D-B407-AEC3E862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3A5E"/>
                </a:solidFill>
              </a:defRPr>
            </a:pPr>
            <a:r>
              <a:rPr sz="1650" b="1" i="0">
                <a:solidFill>
                  <a:srgbClr val="173A5E"/>
                </a:solidFill>
              </a:rPr>
              <a:t>d_spatial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A067A3-75AE-4C7A-B3CF-D6CAEFFC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6"/>
                </a:solidFill>
              </a:defRPr>
            </a:pPr>
            <a:r>
              <a:rPr sz="1125" b="1" i="0">
                <a:solidFill>
                  <a:srgbClr val="5F6B76"/>
                </a:solidFill>
              </a:rPr>
              <a:t>Physical origin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FA72E-19F4-4C60-B03C-2AB3DD6F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PSF, sampling grid and residual registration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5BEDB-771F-4323-95C1-FB17DE5B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6"/>
                </a:solidFill>
              </a:defRPr>
            </a:pPr>
            <a:r>
              <a:rPr sz="1125" b="1" i="0">
                <a:solidFill>
                  <a:srgbClr val="5F6B76"/>
                </a:solidFill>
              </a:rPr>
              <a:t>Observable signature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A00449-2BCC-44A7-9656-FEF6E540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Road/river edge displacement; sCC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A7D53-8B0C-474A-80E3-82B6421A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6"/>
                </a:solidFill>
              </a:defRPr>
            </a:pPr>
            <a:r>
              <a:rPr sz="1125" b="1" i="0">
                <a:solidFill>
                  <a:srgbClr val="5F6B76"/>
                </a:solidFill>
              </a:rPr>
              <a:t>Experimental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D9D4E7-4C67-4D39-ADCA-743A5D75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Co-registration, masks and guard bands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DCA782-CD2D-4DB2-B25A-79FF1FDA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00300"/>
            <a:ext cx="2362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56857-AE49-45D3-BA75-FE99304C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717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7E7A"/>
                </a:solidFill>
              </a:defRPr>
            </a:pPr>
            <a:r>
              <a:rPr sz="1650" b="1" i="0">
                <a:solidFill>
                  <a:srgbClr val="177E7A"/>
                </a:solidFill>
              </a:rPr>
              <a:t>d_spectral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B742C8-273B-4651-8A2E-D01461AD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48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6"/>
                </a:solidFill>
              </a:defRPr>
            </a:pPr>
            <a:r>
              <a:rPr sz="1125" b="1" i="0">
                <a:solidFill>
                  <a:srgbClr val="5F6B76"/>
                </a:solidFill>
              </a:rPr>
              <a:t>Physical origin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7EEEE9-5074-40AC-AB87-BC3029E6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9565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Different relative spectral response functions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76995-B4F2-4924-9B33-46FEEBFA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1955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6"/>
                </a:solidFill>
              </a:defRPr>
            </a:pPr>
            <a:r>
              <a:rPr sz="1125" b="1" i="0">
                <a:solidFill>
                  <a:srgbClr val="5F6B76"/>
                </a:solidFill>
              </a:rPr>
              <a:t>Observable signature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8BE220-DB91-4017-B83A-330F3DC1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6720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Band ratios and spectral-angle error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8784E-D8D5-45C4-9842-F86BDA9A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911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6"/>
                </a:solidFill>
              </a:defRPr>
            </a:pPr>
            <a:r>
              <a:rPr sz="1125" b="1" i="0">
                <a:solidFill>
                  <a:srgbClr val="5F6B76"/>
                </a:solidFill>
              </a:rPr>
              <a:t>Experimental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708585-63E0-4CFC-8C80-920CC5EF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387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Band-aware inputs; avoid false channel equivalence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E2353E-1072-4119-A7B0-379729B0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2362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89B9D9-233C-44EA-91AE-006FADCF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D9772B"/>
                </a:solidFill>
              </a:defRPr>
            </a:pPr>
            <a:r>
              <a:rPr sz="1650" b="1" i="0">
                <a:solidFill>
                  <a:srgbClr val="D9772B"/>
                </a:solidFill>
              </a:rPr>
              <a:t>d_radiometric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3ABA05-BD42-472F-A418-B65792F6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6"/>
                </a:solidFill>
              </a:defRPr>
            </a:pPr>
            <a:r>
              <a:rPr sz="1125" b="1" i="0">
                <a:solidFill>
                  <a:srgbClr val="5F6B76"/>
                </a:solidFill>
              </a:rPr>
              <a:t>Physical origin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2B3349-5F9A-4F07-B4D5-0FB5D4C0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9565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Calibration, atmosphere, BRDF and illumination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2F8B23-C7D7-429A-83BC-814EC1F4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955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6"/>
                </a:solidFill>
              </a:defRPr>
            </a:pPr>
            <a:r>
              <a:rPr sz="1125" b="1" i="0">
                <a:solidFill>
                  <a:srgbClr val="5F6B76"/>
                </a:solidFill>
              </a:rPr>
              <a:t>Observable signature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57DE4E-7F3F-4B6D-A935-C84EEF65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6720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Mean/variance drift; ERGAS and SAM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469EC4-504D-4892-A7BB-5B1F22EE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911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6"/>
                </a:solidFill>
              </a:defRPr>
            </a:pPr>
            <a:r>
              <a:rPr sz="1125" b="1" i="0">
                <a:solidFill>
                  <a:srgbClr val="5F6B76"/>
                </a:solidFill>
              </a:rPr>
              <a:t>Experimental control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6F9712-9297-47A5-878C-A144D428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387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Surface-reflectance scaling and train-only harmonization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286C79-A2EA-4155-9729-D145304C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00300"/>
            <a:ext cx="2362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72C304-B59F-4150-893F-51110CAD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7175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F6B76"/>
                </a:solidFill>
              </a:defRPr>
            </a:pPr>
            <a:r>
              <a:rPr sz="1650" b="1" i="0">
                <a:solidFill>
                  <a:srgbClr val="5F6B76"/>
                </a:solidFill>
              </a:rPr>
              <a:t>d_temporal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5DE726-7AE2-4DBC-95EF-2B608986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6"/>
                </a:solidFill>
              </a:defRPr>
            </a:pPr>
            <a:r>
              <a:rPr sz="1125" b="1" i="0">
                <a:solidFill>
                  <a:srgbClr val="5F6B76"/>
                </a:solidFill>
              </a:rPr>
              <a:t>Physical origin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AB5564-A25B-4DD6-B967-5F9B24B9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9565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Land-cover or atmospheric change between dates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9F20A4-47CE-41CD-A10B-8F3B8724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1955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6"/>
                </a:solidFill>
              </a:defRPr>
            </a:pPr>
            <a:r>
              <a:rPr sz="1125" b="1" i="0">
                <a:solidFill>
                  <a:srgbClr val="5F6B76"/>
                </a:solidFill>
              </a:rPr>
              <a:t>Observable signature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868AF8-400D-4C58-A6BD-1CB694BF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67200"/>
            <a:ext cx="2362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Localized coherent change despite alignment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DE8B3E-0B26-4A57-94EB-C31454D6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911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6"/>
                </a:solidFill>
              </a:defRPr>
            </a:pPr>
            <a:r>
              <a:rPr sz="1125" b="1" i="0">
                <a:solidFill>
                  <a:srgbClr val="5F6B76"/>
                </a:solidFill>
              </a:rPr>
              <a:t>Experimental control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C3027C0-B27F-46CE-A521-2473594B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387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Date-gap threshold, change audit and exclusion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7B5942-8034-43D3-A76B-1CCC92E5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24550"/>
            <a:ext cx="47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32DE23-5BAC-4577-A621-22ED54E7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943600"/>
            <a:ext cx="872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A larger model may fit all four terms. Controlled experiments are needed to identify real spatial detail.</a:t>
            </a:r>
          </a:p>
        </p:txBody>
      </p:sp>
    </p:spTree>
    <p:extLst>
      <p:ext uri="{BB962C8B-B14F-4D97-AF65-F5344CB8AC3E}">
        <p14:creationId xmlns:p14="http://schemas.microsoft.com/office/powerpoint/2010/main" val="14719095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9BD46-0050-4AEB-AB0C-A33AFD6A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BCA53E-546F-47D8-B638-587D49D1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Research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CE9E4-2AF4-46E3-B1A0-CF1D94AE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3B92D-0FAF-451F-8893-A8877B6B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08A6D-E958-43F9-9AAF-2CB554F5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E8B61-3B71-4786-808E-3F751962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B38C5-8446-462E-B667-5E15115F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52550"/>
            <a:ext cx="10325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Does the final model beat bicubic and the exact embedded SwinIR base?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234CF-6AB2-4033-BE59-D0C4EEC8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0C5DD-2E38-4E6C-9902-A21EFED3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47875"/>
            <a:ext cx="10325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Does diffusion improve measured detail, or only alter texture?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2ACFA-6AC0-4F59-B81A-91D9CB58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902E8-6681-4777-8E96-DF6C0CB6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10325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Can evidence confidence suppress unsupported residuals?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54908-E117-4CFD-87DA-98F8C963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E3BC6-C3BE-4019-8B61-8F6FDC79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38525"/>
            <a:ext cx="10325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Does train-only radiometric harmonization reduce domain gap?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E6333-4182-431A-8C5B-DC514328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5C59E-86B2-4AB5-AA35-5B1F6185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10325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Can NIR/SWIR guide the residual without shifting base RGB?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449FC-7ED7-445B-BF5A-579DD2F0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CB5DA-87AC-46CF-BAE3-1398ED74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29175"/>
            <a:ext cx="10325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Do gains survive spatial and complete-tile holdout tests?</a:t>
            </a:r>
          </a:p>
        </p:txBody>
      </p:sp>
    </p:spTree>
    <p:extLst>
      <p:ext uri="{BB962C8B-B14F-4D97-AF65-F5344CB8AC3E}">
        <p14:creationId xmlns:p14="http://schemas.microsoft.com/office/powerpoint/2010/main" val="12758083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1FCCFA-0A05-4F3E-A9F3-1BC59655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DATA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5F63EE-432A-4F8D-85D2-58FB8CDC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Input and target bands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5BB52-2C1D-4F97-B9D7-B400BCA8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39EFF-A854-4BDD-86D9-2346073F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AED58-EDF3-4ED2-A4FD-B2B74E99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49228-B52B-4248-8D14-760F00D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ECFD1-7810-4BEC-B9AB-DEC09654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1847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30564-3485-4D59-9BE9-C823C66B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3355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Product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08E97-6EBC-4F55-B347-635FD705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Bands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E51E9-3283-4C8D-909E-224670C2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335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Resolution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D3ED8-2CE5-4C1A-8F05-BB5B16C1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86722-847B-4153-A510-8BA48C70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LR RGB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2868D-FE82-4F16-AA7A-3A051579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145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Landsat 8/9 C2 L2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FFEB0-83BD-486F-8DA9-E683B322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145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B4 / B3 / B2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8ABF1D-9F31-4D3A-90D6-C277989D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30 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845A2-9413-4D5F-BA89-DC19FB06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E832D0-5086-478F-A730-7E53ECEF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051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Residual guidance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58665-A4CF-4579-A057-91FA93AB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0512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Landsat 8/9 C2 L2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36D10-7796-4FBE-B38E-C3BAD211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0512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B5 / B6 / B7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3B6698-7EBE-42F2-BFE4-205E3EBA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05125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30 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3F7EE-A217-4B32-9AB2-54E86C03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BF8A3D-3348-48B1-B72F-003D3EE3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9567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HR 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FC0F5-8E71-412E-A9DD-7D048F8F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9567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Sentinel-2 L2A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B5AC76-3B29-4031-8913-E9A5AEC4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9567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B4 / B3 / B2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DE27CA-ADC6-4DA7-AB6A-A4E00931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95675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10 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6BD06-68C9-43BD-8F0A-723148C3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AD1700-B54D-4A7A-9240-C8378355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86225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Quality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0EA797-807B-4D90-91E8-52AD12FC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86225"/>
            <a:ext cx="318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Both products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86841C-DC65-48DE-9813-879640AA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86225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QA / SCL / no-data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153AE9-9D73-4180-B2D0-79BEB47C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86225"/>
            <a:ext cx="165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native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5B561F-E536-4899-AB0C-2E345C1B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625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AAC0E1-5CC9-4687-B68E-ACD568E4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816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The multispectral model uses six input bands but still predicts a three-channel RGB image.</a:t>
            </a:r>
          </a:p>
        </p:txBody>
      </p:sp>
    </p:spTree>
    <p:extLst>
      <p:ext uri="{BB962C8B-B14F-4D97-AF65-F5344CB8AC3E}">
        <p14:creationId xmlns:p14="http://schemas.microsoft.com/office/powerpoint/2010/main" val="7536172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CEBBFA-28A6-4467-AC65-6DE61819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DATA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D67C66-4687-4218-8849-3D2C8169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Landsat-Sentinel pair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9C017-4F9C-49EA-A22A-51B2997C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605D7-6656-4907-9AA0-32F8054B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4B006-5328-44E4-9B90-B3457AAF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002B9-6B73-4DD0-AD50-542F128F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67000"/>
            <a:ext cx="514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AB21F-7F1C-405C-8A89-E46691ED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67000"/>
            <a:ext cx="514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937FB-0901-42B7-A0DD-A4796691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67000"/>
            <a:ext cx="514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3721A-5375-4FCF-9C5E-4E29CF2F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67000"/>
            <a:ext cx="514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0F57FB-EEEA-401E-B467-DA099954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5143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3E48D-2831-4C6D-9F92-F4F14B45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7D65D-9ACF-48CF-BFDC-F289BF80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A9054-378A-4612-917B-6BD7A6DC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Discover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78758-7015-4735-939C-8EE41AFF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371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complete products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4DA5A-FAFD-4309-AB89-B1A5CD14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7170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40360-8325-4019-A3EA-C82E0B61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17170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BDFF5-3043-4AA9-A46E-A542FFEA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86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Match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720B8-6BEE-486B-9BD1-ED99B5A5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28900"/>
            <a:ext cx="1371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overlap + 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A2B07-C639-4CAD-AE29-2CDC17BC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58060-D860-47CE-A5EB-54AEC75E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7170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4E4BE-89CA-4E1D-BB72-3E312378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000C83-1361-4B85-867C-CD2F6EED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1371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surface reflectance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762CDF-2E37-4D37-B523-6F8AA469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7170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52D38-0462-4086-B7E3-8BCF96A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7170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98524-95DF-45FD-82A0-8E3EC190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Reproject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50551A-ADC2-44F8-90BE-21073A3A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1371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to paired grids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A4F587-A7A0-491F-9CDB-18A76F3A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AD6CE-B28F-4A1C-A9DB-33D06FA7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18038C-593A-48BF-B357-FE56217F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Mask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261E70-EACD-4197-BF1E-CB6C136A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28900"/>
            <a:ext cx="1371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joint valid support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2EA5DF-85FC-45AA-B772-6947373A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7170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4C7BE5-9F15-494F-B31E-6D4C7506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7170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536BA-C8C6-4D6F-A7D5-658AF255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86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Extract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50470E-7CD5-45D1-8621-321268AA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NPZ + manifest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8F0353-5084-4017-B27F-A03E5D82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A5E"/>
                </a:solidFill>
              </a:defRPr>
            </a:pPr>
            <a:r>
              <a:rPr sz="1800" b="1" i="0">
                <a:solidFill>
                  <a:srgbClr val="173A5E"/>
                </a:solidFill>
              </a:rPr>
              <a:t>Key settings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642A84-1CE2-4B6C-8514-FAC8F2DF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max date gap: 3 days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F2E223-2629-4480-8228-79EEE86B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33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HR: 384 x 384 | stride 288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B6708B-8BBA-44B4-9089-07390823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33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LR: 128 x 128 | valid &gt;= 95%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4EC1DE-77B6-42F1-8412-D0E97560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7685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ECB036-4E19-4795-B02C-C29745EB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959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933"/>
                </a:solidFill>
              </a:defRPr>
            </a:pPr>
            <a:r>
              <a:rPr sz="1575" b="1" i="0">
                <a:solidFill>
                  <a:srgbClr val="1F2933"/>
                </a:solidFill>
              </a:rPr>
              <a:t>The manifest stores product IDs, date gap, transforms, masks and dataset split for every pair.</a:t>
            </a:r>
          </a:p>
        </p:txBody>
      </p:sp>
    </p:spTree>
    <p:extLst>
      <p:ext uri="{BB962C8B-B14F-4D97-AF65-F5344CB8AC3E}">
        <p14:creationId xmlns:p14="http://schemas.microsoft.com/office/powerpoint/2010/main" val="5701082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54D77-2C66-4BED-9419-756BD41A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DATA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CF20E1-1F07-4F0E-B95B-583EC02F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Patch dimensions and ground footprint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899C2-D45E-4198-B85E-4BE345D7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1D655-42D1-4CE1-8500-942A3C9B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9337B-47D8-456D-B342-E2CBA1D6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82D26-BB24-4016-B53A-112AB1F9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8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D9772B"/>
                </a:solidFill>
              </a:defRPr>
            </a:pPr>
            <a:r>
              <a:rPr sz="2250" b="1" i="0">
                <a:solidFill>
                  <a:srgbClr val="D9772B"/>
                </a:solidFill>
              </a:rPr>
              <a:t>128 pixels x 30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FB62F-1E2F-4239-8CA1-21A23C0E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73A5E"/>
                </a:solidFill>
              </a:defRPr>
            </a:pPr>
            <a:r>
              <a:rPr sz="2850" b="1" i="0">
                <a:solidFill>
                  <a:srgbClr val="173A5E"/>
                </a:solidFill>
              </a:rPr>
              <a:t>= 3840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FF402-B4D4-4FFE-9C4A-A58E3ABA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8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77E7A"/>
                </a:solidFill>
              </a:defRPr>
            </a:pPr>
            <a:r>
              <a:rPr sz="2250" b="1" i="0">
                <a:solidFill>
                  <a:srgbClr val="177E7A"/>
                </a:solidFill>
              </a:rPr>
              <a:t>384 pixels x 10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770E7-0BD6-4660-B013-DCC0DA0F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146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73A5E"/>
                </a:solidFill>
              </a:defRPr>
            </a:pPr>
            <a:r>
              <a:rPr sz="2850" b="1" i="0">
                <a:solidFill>
                  <a:srgbClr val="173A5E"/>
                </a:solidFill>
              </a:rPr>
              <a:t>= 3840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C3823-7671-4C5A-A44D-C6083DA9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33550"/>
            <a:ext cx="190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E0A90-2CA6-4F49-B4FC-38AB0425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672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E4171-478E-4B0D-A539-88809605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944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The plots use equal display sizes, but the native sample counts differ. Bicubic resizing adds no new measurement.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22CFF-09D1-4F4B-BACF-02F2B035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197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5F6B76"/>
                </a:solidFill>
              </a:defRPr>
            </a:pPr>
            <a:r>
              <a:rPr sz="1500" b="0" i="1">
                <a:solidFill>
                  <a:srgbClr val="5F6B76"/>
                </a:solidFill>
              </a:rPr>
              <a:t>Audience question: why can the 128-pixel image look physically as large as the 384-pixel image?</a:t>
            </a:r>
          </a:p>
        </p:txBody>
      </p:sp>
    </p:spTree>
    <p:extLst>
      <p:ext uri="{BB962C8B-B14F-4D97-AF65-F5344CB8AC3E}">
        <p14:creationId xmlns:p14="http://schemas.microsoft.com/office/powerpoint/2010/main" val="13363206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5A0F78-B977-49D0-83E8-1547D814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DATA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A4A78A5-1933-4560-AB13-D3471C68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Quality control and rejected pairs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F30C4-C546-4415-B15B-A49A86B8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7F3B7-498B-4A21-98D2-9D6660EF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CA404-9853-49CE-9F4F-6173516E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0EFB1-C343-4BD9-B8DD-276AE5BD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9772B"/>
                </a:solidFill>
              </a:defRPr>
            </a:pPr>
            <a:r>
              <a:rPr sz="1800" b="1" i="0">
                <a:solidFill>
                  <a:srgbClr val="D9772B"/>
                </a:solidFill>
              </a:rPr>
              <a:t>Automatic rejection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3EF2A-B6C0-4699-A34D-F0E4DAD5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18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0F748-427D-428D-9BDA-B0F72596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7E7A"/>
                </a:solidFill>
              </a:defRPr>
            </a:pPr>
            <a:r>
              <a:rPr sz="1800" b="1" i="0">
                <a:solidFill>
                  <a:srgbClr val="177E7A"/>
                </a:solidFill>
              </a:rPr>
              <a:t>Manual pair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DD2A1A-9115-41B9-82C0-15ED65B2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518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3014E-3392-4903-908F-D936881A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B3D014-5C62-4D1E-A82D-60BABE17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cloud / cirrus / shadow / snow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7CD6C-7BE4-4046-B949-AD029C3E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6C1DD8-23FE-4258-9214-01BB3E37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no-data and black borders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73B25-9D39-47EA-83AD-E83F1005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DF071-25A1-4C78-9AE5-49806841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radiometric saturation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44679-5829-4597-B75E-D07DD8A8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DFB2C-4ACB-4AD7-B9FE-5B0FF279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valid support below 95%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9725F-F966-4B61-BE98-3FB834E3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D8230-22DA-4BC3-88D5-CB823143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road and river displacement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E8D99-D683-447B-B1FC-AF2105F8C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A8E06-7F81-45B8-AC40-912C0DD5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coastline misalignment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4BF9A-4236-4389-8A40-AF536E74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5B500-583E-44C0-AF9C-21B2F304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large temporal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8A986-0C6E-4A22-8BCC-C433D53A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9DD61-4133-4DD7-94E9-6BA46A69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unexpected color response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157968-6B48-4DA8-8793-D2B47124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1A0D72-608B-4F0F-8E6C-2644D543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A high valid-pixel fraction does not guarantee accurate registration.</a:t>
            </a:r>
          </a:p>
        </p:txBody>
      </p:sp>
    </p:spTree>
    <p:extLst>
      <p:ext uri="{BB962C8B-B14F-4D97-AF65-F5344CB8AC3E}">
        <p14:creationId xmlns:p14="http://schemas.microsoft.com/office/powerpoint/2010/main" val="68139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CD14F-8C31-4E96-A8D7-D9AD3A04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DATA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A9407C-BD90-4D3A-B351-43EE7456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Train, validation and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F9B54-5BA6-451B-AB39-2D0A4869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C7821-D60B-4E04-80F5-48C40E68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D0131-E429-480F-B4FB-54BDFE9E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481AB-B89F-4EFA-8A2C-3A042D3C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61150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905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CA0C5-4392-46E5-93B1-8644B3ED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52625"/>
            <a:ext cx="2038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42E3C-0ACE-4CCD-B44E-239A6062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20383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1E8"/>
          </a:solidFill>
          <a:ln xmlns:a="http://schemas.openxmlformats.org/drawingml/2006/main" w="19050">
            <a:solidFill>
              <a:srgbClr val="D977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5F68E2-B193-42BF-8DCE-8397F2DF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43175"/>
            <a:ext cx="611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3A5E"/>
                </a:solidFill>
              </a:defRPr>
            </a:pPr>
            <a:r>
              <a:rPr sz="2100" b="1" i="0">
                <a:solidFill>
                  <a:srgbClr val="173A5E"/>
                </a:solidFill>
              </a:rPr>
              <a:t>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C9ABB9-CB1D-4F07-BD11-B56414E8D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5431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7E7A"/>
                </a:solidFill>
              </a:defRPr>
            </a:pPr>
            <a:r>
              <a:rPr sz="2100" b="1" i="0">
                <a:solidFill>
                  <a:srgbClr val="177E7A"/>
                </a:solidFill>
              </a:rPr>
              <a:t>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EB4D2-3DB0-42D5-9D08-5862DAD1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431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D9772B"/>
                </a:solidFill>
              </a:defRPr>
            </a:pPr>
            <a:r>
              <a:rPr sz="2100" b="1" i="0">
                <a:solidFill>
                  <a:srgbClr val="D9772B"/>
                </a:solidFill>
              </a:rPr>
              <a:t>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E70190-ABDB-499F-B077-70728047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38325"/>
            <a:ext cx="2286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B7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C1578-0938-41EB-8162-1E147ED8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38325"/>
            <a:ext cx="2286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B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458B1-D105-4B27-A71F-F2FFFCDF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0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6B76"/>
                </a:solidFill>
              </a:defRPr>
            </a:pPr>
            <a:r>
              <a:rPr sz="1350" b="0" i="0">
                <a:solidFill>
                  <a:srgbClr val="5F6B76"/>
                </a:solidFill>
              </a:rPr>
              <a:t>guard bands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DAC79-5AAC-4853-A4C4-7DE78BC1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E484E-B1FA-43DB-8328-5C2D66B0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956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F2933"/>
                </a:solidFill>
              </a:defRPr>
            </a:pPr>
            <a:r>
              <a:rPr sz="1575" b="0" i="0">
                <a:solidFill>
                  <a:srgbClr val="1F2933"/>
                </a:solidFill>
              </a:rPr>
              <a:t>Development: spatial blocks within every tile provide val/test even with few tiles.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E2002-76F3-48B2-948A-AB869387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00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2B4B9-C52D-4C69-8705-BCD7338D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9563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F2933"/>
                </a:solidFill>
              </a:defRPr>
            </a:pPr>
            <a:r>
              <a:rPr sz="1575" b="0" i="0">
                <a:solidFill>
                  <a:srgbClr val="1F2933"/>
                </a:solidFill>
              </a:rPr>
              <a:t>Final claim: complete-city or complete-tile holdout and spatial K-fold evaluation.</a:t>
            </a:r>
          </a:p>
        </p:txBody>
      </p:sp>
    </p:spTree>
    <p:extLst>
      <p:ext uri="{BB962C8B-B14F-4D97-AF65-F5344CB8AC3E}">
        <p14:creationId xmlns:p14="http://schemas.microsoft.com/office/powerpoint/2010/main" val="8471375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4AE22-9E62-42C9-AEC5-A7A2EBAE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EVALUATION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648547-2072-47EC-9402-B1FD4E8A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Baselines and acceptance criterion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B6176-E6D3-4CE6-B83D-1A4A3779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89DEA-F744-4133-A0B9-017A1F6D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E38A3-25C2-4304-BC41-A4C48C28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F9706-DD39-4E8F-93DC-DB1EF2D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A5E"/>
                </a:solidFill>
              </a:defRPr>
            </a:pPr>
            <a:r>
              <a:rPr sz="1800" b="1" i="0">
                <a:solidFill>
                  <a:srgbClr val="173A5E"/>
                </a:solidFill>
              </a:rPr>
              <a:t>Evaluation ladder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5E3AE-262F-4FAE-932B-528FAEB9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19050">
            <a:solidFill>
              <a:srgbClr val="5F6B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01CC1-EFC1-43B1-A1D2-FEA50219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Bicubic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239AD-D678-4A2D-8CB8-D63CD806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4790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1E8"/>
          </a:solidFill>
          <a:ln xmlns:a="http://schemas.openxmlformats.org/drawingml/2006/main" w="19050">
            <a:solidFill>
              <a:srgbClr val="D977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F217F-37FE-46FD-AFB4-93D63B1E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SwinIR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B9159-CBCA-447C-8DCC-11603303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4790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FF046-A1B3-4890-A201-5EA215A0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908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RGB GeoDiff-GAN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EFDF3-1DB7-4B0E-B82B-DBA69267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4790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CA35B5-BE56-415B-9754-AEFEBBFE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908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Multispectral guided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C5D39-5DFD-44D3-9F14-A2990031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47900"/>
            <a:ext cx="1733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1DBC0-0678-4F4D-9915-F5429A36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150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External SR methods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549174-FAE5-460E-BDCE-D0F9354F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67073-F57F-44AF-B4A4-A39798B2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48150"/>
            <a:ext cx="910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All methods are evaluated on the same pairs, masks, splits, indices and metric code.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70DE5-EC75-4270-AC93-24EC0BD4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81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D9772B"/>
                </a:solidFill>
              </a:defRPr>
            </a:pPr>
            <a:r>
              <a:rPr sz="1275" b="1" i="0">
                <a:solidFill>
                  <a:srgbClr val="D9772B"/>
                </a:solidFill>
              </a:rPr>
              <a:t>Safety baseline</a:t>
            </a:r>
          </a:p>
        </p:txBody>
      </p:sp>
    </p:spTree>
    <p:extLst>
      <p:ext uri="{BB962C8B-B14F-4D97-AF65-F5344CB8AC3E}">
        <p14:creationId xmlns:p14="http://schemas.microsoft.com/office/powerpoint/2010/main" val="11147461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F9477AC-1436-41A0-A0CB-768302AA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78FE8C-FDF8-4484-8C37-FFFA52EF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GeoDiff-GAN SR-3x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CA0C1-BE6D-4A89-9FBE-50B0B0E3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24FB3-CA72-4DC6-B333-5F726DA9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2DE8E-287E-42F2-86E0-8A8082C2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B42837-DD46-47FF-85F7-11B035C4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5E"/>
                </a:solidFill>
              </a:defRPr>
            </a:pPr>
            <a:r>
              <a:rPr sz="1350" b="1" i="0">
                <a:solidFill>
                  <a:srgbClr val="173A5E"/>
                </a:solidFill>
              </a:rPr>
              <a:t>(a) Deterministic reconstruction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932E6-CF03-472D-9EA2-A92684A3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7E7A"/>
                </a:solidFill>
              </a:defRPr>
            </a:pPr>
            <a:r>
              <a:rPr sz="1350" b="1" i="0">
                <a:solidFill>
                  <a:srgbClr val="177E7A"/>
                </a:solidFill>
              </a:rPr>
              <a:t>(b) Conditional residual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A2314-4021-4260-BB5F-137D4FD0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B76"/>
                </a:solidFill>
              </a:defRPr>
            </a:pPr>
            <a:r>
              <a:rPr sz="1200" b="1" i="0">
                <a:solidFill>
                  <a:srgbClr val="5F6B76"/>
                </a:solidFill>
              </a:rPr>
              <a:t>training supervision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FB65F-EE99-43F2-8D4A-B784C2AE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38350"/>
            <a:ext cx="685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00EBD-5234-467E-A8FE-EF5D1894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685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177A28-E4FB-40F6-86D8-81BB5307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22860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1429E-596C-4406-8C2C-AD0191D0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4572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90DEB-0B30-4516-B4B9-846B2393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52850"/>
            <a:ext cx="3619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F359B-E99B-406F-8A1D-E2C16AF5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52850"/>
            <a:ext cx="3619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E7BD9-9EB5-4F41-8CEB-A57F951E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52850"/>
            <a:ext cx="3619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E9A18-9BF2-4E05-A04F-A841ED3A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752850"/>
            <a:ext cx="3619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7F7B7-08B8-46FB-8C46-E450FC71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57450"/>
            <a:ext cx="114300" cy="8572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C7E6BE-AA12-4A65-B1EB-31E7606F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34000"/>
            <a:ext cx="3048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12DDA-2931-4CBF-A6CF-BE23B645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34000"/>
            <a:ext cx="3048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DF55F-0638-4BC8-A890-A7ED56F3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334000"/>
            <a:ext cx="3048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1980C7-5173-4859-8E0C-9B27B0CC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71950"/>
            <a:ext cx="114300" cy="8382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2D544-608C-4EEA-9EFA-B0EE90F1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524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4F429D-31B3-4FF0-B3FF-C2F62772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504BDC-890B-458A-B632-D2DB2CBD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Landsat RGB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27452-202C-48F9-8294-AC946F17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 x 128 x 128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FD199-EC1F-4D3A-BA64-477DC45A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57350"/>
            <a:ext cx="1562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4FBFB-8226-49A8-B68A-DD6714F2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57350"/>
            <a:ext cx="1562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57C11-1167-4AED-BBE4-04872D4A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716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SwinIR base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362541-3358-476B-94B7-14D9E4B2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RGB-only | 3x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7E677C-9962-4873-B9E6-D9BD7424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57350"/>
            <a:ext cx="1657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640220-F8ED-478B-9255-5A3DF4C5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657350"/>
            <a:ext cx="1657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3125E6-9604-4BD9-988B-1EE6552B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7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Base estimate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393C5F-C789-4DF9-80D4-9342449C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1455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 x 384 x 384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965742-E005-4523-8F4B-43023D9F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57350"/>
            <a:ext cx="180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1A10B7-8C94-4910-90F5-207211F9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573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A990BB-60FB-445A-8887-982C0468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716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Merge + clip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D54FED-45D0-49E2-9E26-CB0047D6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145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 x 384 x 384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E4591D-2312-4272-B891-40AA1834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33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A39B6A-DB91-4B9F-B185-3DFA93C8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FFC5086-8D46-4E7A-B6E3-C53788DB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Landsat MS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289D6E-0810-463F-91B0-99A88CF2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6 x 128 x 128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1B099B-5EE8-4B0F-8D79-F6B5FED1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71850"/>
            <a:ext cx="1371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ACD62B-64A1-4F59-B9C1-3FC08058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718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68E98C-B96F-4B0B-A6A3-1240A9DD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86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LR encoder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D4DBE4-75CD-410F-955D-8FA69AD2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290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 scales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2DB1AC-7CE7-4BF7-A686-CF7383EC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1466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FD7C824-D42F-4183-AB35-2343FE36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EEA3D1-27F9-4A45-854C-A872220F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86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Diffusion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8CED70-5621-4185-BC96-CB12390F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290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 @ 48^2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31A60D-3592-42D3-B410-03938382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466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767EEF-A878-40F1-9C42-D58128A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F8EBEF-A9C9-4955-98F0-5670B59F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86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GeoMapper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470BA8-A3C1-4E03-ACC2-32D9101F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290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 outputs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C081DD-A35C-4CC2-A7B8-F893AA5A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4668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E14D08-1883-40FC-B011-64BE720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9C34D0-5D6C-401F-A738-E410F704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SR decoder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3E804D-29DC-4E99-A5A9-FAB42380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29050"/>
            <a:ext cx="1276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residual at 384^2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363A2B3-B2EF-49E2-8E91-58460F07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71850"/>
            <a:ext cx="1428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2F7BA6-D466-4868-B2E0-FAAC95F2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718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88E021-CD9A-4349-8BC9-BC11D0E0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861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Gate + HPF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4C8C27-1097-4176-B7FF-84EBA849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829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alpha * c * HPF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BA475D-FDE4-47C7-A69A-CC54CC3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6B6C6F2-7F86-4737-A3D5-4B370F8F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87739E-C31E-4FF0-AB7F-F31A65F1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6B76"/>
                </a:solidFill>
              </a:defRPr>
            </a:pPr>
            <a:r>
              <a:rPr sz="1500" b="1" i="0">
                <a:solidFill>
                  <a:srgbClr val="5F6B76"/>
                </a:solidFill>
              </a:rPr>
              <a:t>Sentinel HR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823B66E-D06E-41A2-8A46-FB42184F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 x 384 x 384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9D4CA89-BA29-4A98-98CE-50013D30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015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4D43FF4-A364-442A-8DCD-48D653C3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01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04F695A-36F1-4C58-A095-13104740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24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r_target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668B58C-4345-412B-80F4-184A721A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67350"/>
            <a:ext cx="1181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x_S2 - x_base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3DE2C4E-D109-496C-91F7-9A9FFD46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2991AC-14CB-42F7-8895-2A2C1B8E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101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53BDE1-FDF3-4FC5-9D9F-9C8F2795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24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VAE encode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2ADCD9D-C5CB-45D2-99AE-C9FB241D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467350"/>
            <a:ext cx="1181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latent moments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DA82941-6A91-49BC-8063-4CA8AEF5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1015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0893CF3-4DF3-4DBC-8C03-FD8CE6B5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101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2A995EE-23D3-4CF6-9C0F-0758C6D4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24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z_0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5C6F19-B52F-4DF8-A76F-2320A3CE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67350"/>
            <a:ext cx="11811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 x 48 x 48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DB77851-9192-473B-B212-51B394D8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A5E"/>
                </a:solidFill>
              </a:defRPr>
            </a:pPr>
            <a:r>
              <a:rPr sz="1350" b="1" i="0">
                <a:solidFill>
                  <a:srgbClr val="173A5E"/>
                </a:solidFill>
              </a:rPr>
              <a:t>x_hat = clip[x_base + alpha c .* HP(r_hat), 0, 1]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D9B9326-D6F1-4936-9EA2-4AC563B2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0550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09F02D5-5C34-4405-BE80-462630A7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24550"/>
            <a:ext cx="880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Low-frequency RGB comes from the base branch. The residual is high-pass filtered and confidence weighted.</a:t>
            </a:r>
          </a:p>
        </p:txBody>
      </p:sp>
    </p:spTree>
    <p:extLst>
      <p:ext uri="{BB962C8B-B14F-4D97-AF65-F5344CB8AC3E}">
        <p14:creationId xmlns:p14="http://schemas.microsoft.com/office/powerpoint/2010/main" val="10320500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917E52-DE36-4BE2-9BDE-CDBB6F57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CE168B-4798-4974-AFA8-94AEBB39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SwinIR base branch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4E2ED-1CAF-4755-83E4-95841E17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A13E3-C35A-49D3-9391-9495384E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A22A9-CAAB-4039-994F-CE2CC9E2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1AFA7-DE94-4C5A-8898-7F0489ED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5E"/>
                </a:solidFill>
              </a:defRPr>
            </a:pPr>
            <a:r>
              <a:rPr sz="1350" b="1" i="0">
                <a:solidFill>
                  <a:srgbClr val="173A5E"/>
                </a:solidFill>
              </a:rPr>
              <a:t>SwinIR-style deterministic branch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F32DFF-B4C8-4A35-BFE0-5B47290B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71750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2979A-BB20-4104-B878-1CD80448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20F34-6FE9-4928-8588-65C41B7B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3619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FDA29-3BFA-42E2-BC0C-E47BEEBC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304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FA631-AD29-4032-B9B0-2E72E4C4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71750"/>
            <a:ext cx="3429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5463D-AF4F-492C-86D9-4918E0BA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09750"/>
            <a:ext cx="403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32BBD0-6A79-45E7-B994-2B76D5E1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1143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8D01B-9F6B-42CD-93B8-661132CA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1143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9C4A3-5E74-432E-AD31-A922683D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821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F2A38-E5AC-4733-86D7-080C980A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114300" cy="552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D48A3-185F-491E-B9DF-8208EDDF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33775"/>
            <a:ext cx="5905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3E57F-67B7-4056-AF31-B23CBC80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257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FC800F-896B-41CE-88E0-938CB8C0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257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12EF1-4A09-4C93-B211-D5788CF3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RGB input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F55C2D-0D04-4835-A67C-7747BB14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 x 128 x 128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81773-6744-4EE3-A7AD-028F7154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52650"/>
            <a:ext cx="1390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F92BC-8659-4176-B061-B3BFA195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152650"/>
            <a:ext cx="1390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439EF-10B8-4C56-B876-71165CDA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669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3 x 3 conv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E9D7E1-208A-4948-9B78-2370C274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09850"/>
            <a:ext cx="1200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C = 32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D2592-495A-470A-91F7-69769EA7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1581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9D8623-FFA0-4016-9C6B-D46478AB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158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0CD59-162F-4F4E-A16A-3505FEBF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Swin body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157BBA-F3B6-4700-A3CA-EFF65312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9555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 RSTB | 8 x 8 windows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 attention heads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71287D-71CE-4B43-9B8E-86C53A8D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1447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67AB2E-BBE8-4886-A8A1-FC077B70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144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7B4BCB-A058-4283-96CD-646BD7EC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Body conv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B8BE0F-15AA-47B3-9717-D5D91440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1257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+ feature residual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A8AD91-317C-4F66-88B1-82721910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14668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7DE8A2-7D8B-41AA-A1E9-9BB68642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CDE595-C56B-4A79-9E94-446D91EF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Resize-conv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35C46A-5B63-446D-8653-F0DB6A3D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9555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bilinear 3x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 x 3 refinement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98C3E5-3751-4AA2-B25A-E99208C5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52650"/>
            <a:ext cx="1409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7869F5-9FEB-4151-BA02-4E01F5E3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526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F5C628-8DA0-43A1-92E6-1F0A30E3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669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x_base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885233-5E8F-4C87-BD37-E3026EA0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09850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 x 384 x 384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1456E6-87EF-4295-B2B0-DACF9052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62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5F6B76"/>
                </a:solidFill>
              </a:defRPr>
            </a:pPr>
            <a:r>
              <a:rPr sz="1050" b="0" i="1">
                <a:solidFill>
                  <a:srgbClr val="5F6B76"/>
                </a:solidFill>
              </a:rPr>
              <a:t>long feature skip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284FB7-6485-4E42-8EA2-EF6E173C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57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5F6B76"/>
                </a:solidFill>
              </a:defRPr>
            </a:pPr>
            <a:r>
              <a:rPr sz="1050" b="0" i="1">
                <a:solidFill>
                  <a:srgbClr val="5F6B76"/>
                </a:solidFill>
              </a:rPr>
              <a:t>bicubic RGB anchor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AD8A44-10A1-40EB-9AB0-65A562BF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10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73A5E"/>
                </a:solidFill>
              </a:defRPr>
            </a:pPr>
            <a:r>
              <a:rPr sz="1725" b="1" i="0">
                <a:solidFill>
                  <a:srgbClr val="173A5E"/>
                </a:solidFill>
              </a:rPr>
              <a:t>x_base = bicubic(y_RGB) + B_theta(y_RGB)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CA969B-62CC-4903-B121-4DC7D97A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99110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13240F-88CE-47A8-969B-D1897E93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10150"/>
            <a:ext cx="880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If the residual is rejected, the model returns the SwinIR base. NIR/SWIR do not alter its low-frequency RGB output.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6C1B15-7DDA-4A80-97B4-C6E40BE9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95950"/>
            <a:ext cx="792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7E7A"/>
                </a:solidFill>
              </a:defRPr>
            </a:pPr>
            <a:r>
              <a:rPr sz="1350" b="1" i="0">
                <a:solidFill>
                  <a:srgbClr val="177E7A"/>
                </a:solidFill>
              </a:rPr>
              <a:t>Image-space upsampling uses resize-convolution to avoid PixelShuffle phase artifacts.</a:t>
            </a:r>
          </a:p>
        </p:txBody>
      </p:sp>
    </p:spTree>
    <p:extLst>
      <p:ext uri="{BB962C8B-B14F-4D97-AF65-F5344CB8AC3E}">
        <p14:creationId xmlns:p14="http://schemas.microsoft.com/office/powerpoint/2010/main" val="20125196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397247-CABF-4E2C-901B-A8CC2863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A52861-C159-4C8F-A560-3C9FFABC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Residual variational autoencoder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F942B-C4C6-4032-A1FD-40B61AD6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F2FCC-2081-458A-9EDD-5186DC17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A3142-E67A-4533-A7D4-D7692052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9F8D4-2636-4CD0-9DF5-20D09539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772B"/>
                </a:solidFill>
              </a:defRPr>
            </a:pPr>
            <a:r>
              <a:rPr sz="1350" b="1" i="0">
                <a:solidFill>
                  <a:srgbClr val="D9772B"/>
                </a:solidFill>
              </a:rPr>
              <a:t>(a) VAE training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CE150-F8A6-4B97-8E1E-E246E02C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7E7A"/>
                </a:solidFill>
              </a:defRPr>
            </a:pPr>
            <a:r>
              <a:rPr sz="1350" b="1" i="0">
                <a:solidFill>
                  <a:srgbClr val="177E7A"/>
                </a:solidFill>
              </a:rPr>
              <a:t>(b) Inference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E14B9-9EA5-44E9-85BE-2ACD40CE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24100"/>
            <a:ext cx="4000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3AB17-9ED0-4898-A333-56C7F618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24100"/>
            <a:ext cx="4000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F7055-67B9-4046-82AA-E7B01F68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24100"/>
            <a:ext cx="3810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561C7-03AF-417F-84F2-B2EE3CB4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3810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D9482-D1C8-4F9E-BC79-BFACB031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24100"/>
            <a:ext cx="3048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F625D-EEE7-4335-9BB0-2A51373E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352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655FE-2574-415B-AC51-07F5DEB2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49D10-62B2-468B-8926-2DC8E095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r_target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7C665-CDBA-4CD5-9609-ABC901B5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x_S2 - x_base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53687-D1CD-4CF4-8B10-42FC3C94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71650"/>
            <a:ext cx="1409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14FF5-D3D0-4A69-BE6E-A76D0881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716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2E5B2-7831-4A4F-B89B-792C8B0D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859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Encoder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38E94-CDC9-4174-9CC1-06B5B4D7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28850"/>
            <a:ext cx="1219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384 -&gt; 192 -&gt; 96 -&gt; 48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A50E4D-CEF3-42CC-ADD0-4A1852BE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71650"/>
            <a:ext cx="1428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D0EED9-7281-4E6F-9C90-A0F70DE2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7165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9CD94C-78B1-4E1D-A306-86DE736C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Moments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DFB5B-256B-40BC-AD2C-DA10001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2885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mu and log sigma^2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 x 48 x 48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188818-C42B-4F0D-854A-50D7105B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13906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C792F-5C91-4D57-B532-D5D3DFE1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85950"/>
            <a:ext cx="1390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B8D468-3D85-419B-B6ED-9900B62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Sample z_0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9F3257-4D31-4DE6-A3F6-C93A6C73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431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mu + sigma epsilon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E8779-B15D-433E-8EF6-DBC0E1A6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71650"/>
            <a:ext cx="1409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3D402D-9123-49A6-AEF5-F667EE77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7165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F3805E-2B07-4ACE-B08C-148A2729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8595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Decoder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42EC89-6314-49D3-A8EF-9D5DA659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1219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48 -&gt; 96 -&gt; 192 -&gt; 384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90808E-297E-48D6-B53A-25066C42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85950"/>
            <a:ext cx="1238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235B6B-C812-45ED-83CC-81FAFE89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8595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F5C7D8-D097-4A20-BB37-F661F7B4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000250"/>
            <a:ext cx="1009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r_tilde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90ED12-734C-472F-9C2A-F0B0770D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431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 x 384 x 384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DA1377-2F54-4B25-B38C-44E95D87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81350"/>
            <a:ext cx="788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L_VAE = L1(r_tilde, r_target) + beta_KL KL[q(z|r) || N(0,I)]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80A267-FC38-4622-9F42-CFC58DEA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62500"/>
            <a:ext cx="5524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34CE94-3546-4F67-9870-AA46F9C1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5524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BB946B-47C9-4901-9F53-8562DC7D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62500"/>
            <a:ext cx="5524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C5C832-8AB8-4CE8-9090-C5C9A2EA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5049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D60103-B24D-4D32-BEE7-D9E8ED574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504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055FD8-07B1-4031-A020-73EAAE69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6B76"/>
                </a:solidFill>
              </a:defRPr>
            </a:pPr>
            <a:r>
              <a:rPr sz="1500" b="1" i="0">
                <a:solidFill>
                  <a:srgbClr val="5F6B76"/>
                </a:solidFill>
              </a:rPr>
              <a:t>Noise z_T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766144-4212-4166-84A0-737356B1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006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~ N(0, I)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71FEFA-EA96-4C4C-B2A4-0BF493B9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29100"/>
            <a:ext cx="17907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D3D0CC-6FA3-45DD-867F-A68F8215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29100"/>
            <a:ext cx="1790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FD92EE-46B5-41EA-9E37-8C985756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343400"/>
            <a:ext cx="1562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A5E"/>
                </a:solidFill>
              </a:defRPr>
            </a:pPr>
            <a:r>
              <a:rPr sz="1350" b="1" i="0">
                <a:solidFill>
                  <a:srgbClr val="173A5E"/>
                </a:solidFill>
              </a:rPr>
              <a:t>Conditional diffusion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F7B355-5C7D-4770-A2EF-EB4745DE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577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LR-conditioned DDIM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0FC44C-8DD7-49D2-BC10-C2DEF666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43400"/>
            <a:ext cx="17907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064B28-CD9A-4724-8724-4A5BBA5B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43400"/>
            <a:ext cx="1790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31CD15-C790-4982-A959-B92633EB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577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Denoised latent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17B782-8EE3-4F3E-ACE3-926767E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00600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z_hat_0: 4 x 48 x 48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4B656B-90CF-489F-9B54-EAC72888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29100"/>
            <a:ext cx="21526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8EEA8F-6BB1-4C8D-A613-7C19B285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29100"/>
            <a:ext cx="2152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E6BF3B6-3006-455D-8D72-A75EE254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9772B"/>
                </a:solidFill>
              </a:defRPr>
            </a:pPr>
            <a:r>
              <a:rPr sz="1350" b="1" i="0">
                <a:solidFill>
                  <a:srgbClr val="D9772B"/>
                </a:solidFill>
              </a:rPr>
              <a:t>GeoMapper + decoder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493FD01-71C3-4B8A-9191-FF516BA1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5775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content, FiLM, confidence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controlled HR residual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CDB30E-E532-421B-A266-EBD15A6F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57850"/>
            <a:ext cx="750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The VAE encoder is absent at inference; no Sentinel pixels enter the model.</a:t>
            </a:r>
          </a:p>
        </p:txBody>
      </p:sp>
    </p:spTree>
    <p:extLst>
      <p:ext uri="{BB962C8B-B14F-4D97-AF65-F5344CB8AC3E}">
        <p14:creationId xmlns:p14="http://schemas.microsoft.com/office/powerpoint/2010/main" val="188164645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DFE501-C003-4BF4-895C-E9F06F3C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B9F3DD-CE76-47C8-8654-D590594B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Conditional latent diffusion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10797-46A7-4B53-99E8-8F56FC42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06AF5-83DA-4498-ACB3-70239D03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4BE37-5D92-4F2F-9B46-D9844A9F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54568-078D-4C45-A4F6-72C0A37B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6"/>
                </a:solidFill>
              </a:defRPr>
            </a:pPr>
            <a:r>
              <a:rPr sz="1275" b="1" i="0">
                <a:solidFill>
                  <a:srgbClr val="5F6B76"/>
                </a:solidFill>
              </a:rPr>
              <a:t>Condition vector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1DA11-53EC-4B6E-86BD-1A1ED6BB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314450"/>
            <a:ext cx="8991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EF01C-14E5-4CC2-AC1E-42E3D143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314450"/>
            <a:ext cx="899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95594-52A3-4B51-B7FD-011ADD3D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66850"/>
            <a:ext cx="853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timestep t   |   SR/edit mode   |   multi-scale LR features   |   optional text and degradation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EBEBC-F8E9-4331-B797-48BAE590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00350"/>
            <a:ext cx="4572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0D843-2523-4FEE-B54E-483C5CB7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71800"/>
            <a:ext cx="114300" cy="685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D56FB-05FB-49EF-A656-0BB6C04E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2667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57D97-1BBE-41EE-BF7B-2AD84CDB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10000"/>
            <a:ext cx="114300" cy="6858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2AB5A-7818-496E-8945-5A7338BF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57700"/>
            <a:ext cx="2667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02C53-4CC6-4472-B167-04E9F7D6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57700"/>
            <a:ext cx="2667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3D2B2-ACF1-47C8-BE5F-7393CBC7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10000"/>
            <a:ext cx="114300" cy="6858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0604A8-B342-4466-8F23-81AE18E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19500"/>
            <a:ext cx="2667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24DFB-2E1B-493D-AD44-0898F7F9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971800"/>
            <a:ext cx="114300" cy="6858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8FA7FA-D1D7-4255-A2E7-21C2198B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71700"/>
            <a:ext cx="727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5D80E1-4A02-488F-AF53-FC6A2E06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71700"/>
            <a:ext cx="1143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7A162-CE02-40A4-A0E7-7DF2B222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71700"/>
            <a:ext cx="1143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0DC755-F3B5-4479-B419-C77AA939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48000"/>
            <a:ext cx="363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3324F-3AE0-4D69-ACDF-A1C6DDB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48000"/>
            <a:ext cx="1143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A3055-0826-4350-8363-3332F00B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48000"/>
            <a:ext cx="114300" cy="3619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B0F83A-FB68-41C2-ADF2-F1111F96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33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981A5F-9377-45C3-8376-CA3FCB3C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D5B34-4A79-4ACB-A1F0-1F38A7A5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z_t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4D4CF2-8ABC-4716-B2D9-38D7D81C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 x 48 x 48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76BD69-583E-4B61-B671-168DAFEF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127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63AA6F-C559-45E0-947E-2C3B468B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33650"/>
            <a:ext cx="1276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96FDE-8BA4-4A71-8798-34562224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479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Down 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25A227-4902-4209-8FFE-978FCA9A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128 @ 48^2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A77A59-684F-4B14-AD65-9BB77F95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9950"/>
            <a:ext cx="12763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7B1D10-C142-4F66-B6B1-45A1262A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9950"/>
            <a:ext cx="1276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C31F48-0AAC-4B22-8DCE-B4C6239E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Down 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071466-2F7C-4907-8708-E5AC50CC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6715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256 @ 24^2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7BB050-8E2F-49D9-ACAC-85AA2F0D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1371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C79F24-367A-4585-B80B-313BAB3E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F07445-6EDA-4CB3-BAF7-5550D1B9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Bottleneck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811FEA-03DC-40F0-A921-D3249140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7434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384 @ 12^2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D4F4E7-119C-4760-9E61-67F2DBD9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9950"/>
            <a:ext cx="1371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57FFED-724C-4242-AD28-27401ECA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99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33F902-3F1C-4DEE-B2CB-1A8B444E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24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Up 2 + skip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033B00-CD53-4B16-93D8-3A49984D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256 @ 24^2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2BE828-B26C-4F5E-88F5-20288777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33650"/>
            <a:ext cx="1581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8E841D-75AD-4A1C-9B0F-B98BEC5C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33650"/>
            <a:ext cx="158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CCA760-F2C5-4A29-94DC-B3E6E359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6479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v head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B9233AF-B5FD-49AB-8844-504ED1F4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908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 @ 48^2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EC14DA-2B75-48A7-9CE5-150D1215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5F6B76"/>
                </a:solidFill>
              </a:defRPr>
            </a:pPr>
            <a:r>
              <a:rPr sz="1050" b="0" i="1">
                <a:solidFill>
                  <a:srgbClr val="5F6B76"/>
                </a:solidFill>
              </a:rPr>
              <a:t>skip connection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C16DE3-07FA-4DEF-AF88-6EDE8DAC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19400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5F6B76"/>
                </a:solidFill>
              </a:defRPr>
            </a:pPr>
            <a:r>
              <a:rPr sz="1050" b="0" i="1">
                <a:solidFill>
                  <a:srgbClr val="5F6B76"/>
                </a:solidFill>
              </a:rPr>
              <a:t>skip connection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4B89E88-13E0-4EA6-B6BE-713E9615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53050"/>
            <a:ext cx="887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DDIM: z_T -&gt; z_t -&gt; z_hat_0; repeat with different seeds to estimate uncertainty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1E976D-4C46-4DF2-91CF-C08C6B76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DE48BB-B5F9-4175-A0AB-8E48B741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Current implementation: image-space upsampling uses resize-convolution; the latent U-Net upsampler remains an ablation item.</a:t>
            </a:r>
          </a:p>
        </p:txBody>
      </p:sp>
    </p:spTree>
    <p:extLst>
      <p:ext uri="{BB962C8B-B14F-4D97-AF65-F5344CB8AC3E}">
        <p14:creationId xmlns:p14="http://schemas.microsoft.com/office/powerpoint/2010/main" val="188129124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A297FE0-8BC4-48C9-83C4-77ED9F52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38354D-01D9-4D9A-9CAB-8768C426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GeoMapper and residual decoder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C1774-216A-4109-A61F-B18DF490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88C07-67C7-4754-9DDC-0FAFC8B1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9F777-FC0E-498A-A482-FFED1C91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6D3C0-3FD6-472C-AEF6-5E7A3C7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7E7A"/>
                </a:solidFill>
              </a:defRPr>
            </a:pPr>
            <a:r>
              <a:rPr sz="1350" b="1" i="0">
                <a:solidFill>
                  <a:srgbClr val="177E7A"/>
                </a:solidFill>
              </a:rPr>
              <a:t>(a) Spatial mapping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4237F-317E-45FE-BC72-9F76FD12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772B"/>
                </a:solidFill>
              </a:defRPr>
            </a:pPr>
            <a:r>
              <a:rPr sz="1350" b="1" i="0">
                <a:solidFill>
                  <a:srgbClr val="D9772B"/>
                </a:solidFill>
              </a:rPr>
              <a:t>(b) Residual synthesis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13202-8687-46E7-A1CC-0EBC11A7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133600"/>
            <a:ext cx="4000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C39B4-E100-4C37-95D2-B9F36E36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95600"/>
            <a:ext cx="4000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13B80D-576E-42B9-A981-C95F15AC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28850"/>
            <a:ext cx="5334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EEF0D-45E5-4339-9E70-E4FF4086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47950"/>
            <a:ext cx="5334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BF2C1-2F34-468C-8BAD-866BD962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67050"/>
            <a:ext cx="53340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EDA06-364D-4466-9298-A73CC1A1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19450"/>
            <a:ext cx="114300" cy="628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4E4A6-50C3-418E-8A3F-6EE55403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19450"/>
            <a:ext cx="114300" cy="628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7982A-9619-4C40-A33D-8A37CF08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19450"/>
            <a:ext cx="114300" cy="628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CE97E1-EE5D-494A-B29A-568C244E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324350"/>
            <a:ext cx="3238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F1240-5A7E-4B30-BFB6-0B11A240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24350"/>
            <a:ext cx="3238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F5843-256A-4A1C-B585-2E2BD327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24350"/>
            <a:ext cx="3238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761611-76BC-4C53-B4B7-D104CBC1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24350"/>
            <a:ext cx="3238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2D3C29-42D8-49AA-8472-5613D4CA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24350"/>
            <a:ext cx="323850" cy="857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A975B-7841-4106-A3EA-1F973343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314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64799-BEEB-476C-BFE1-3F2EBB77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314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0E4968-7671-420A-8B63-EEF76C6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Denoised z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291BE7-FA3C-4B13-857D-A816DBA4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 x 48 x 48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D38EB6-0A00-4D44-99FA-D4E9766C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3144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679DB6-BB36-47D4-BF0E-371BB748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314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237BC-27D3-4B75-83A6-41D08402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LR feature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BA1DD4-B406-498A-AA28-CA6D9B1C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f64: 48 x 64^2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61AB2B-E768-4C1A-8FD5-17CEE44B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7640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76123-81F0-4FE4-A4ED-EDB07A1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76400"/>
            <a:ext cx="228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B94376-7357-47FA-B836-1666D37E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907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GeoMapper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A31D72-BBBD-45A2-A545-C57600BE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33600"/>
            <a:ext cx="209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concat + projection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 spatial residual blocks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shared 48 x 48 representation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3A8920-28BB-47B6-B13C-76386DD6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66900"/>
            <a:ext cx="1638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8D0039-DB7D-4EA8-8687-F0E31F7E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66900"/>
            <a:ext cx="1638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5194E8-C93B-4741-BA70-25FBF3F5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812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Content tensor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7ADB78-0202-4016-9A1E-D7677D7E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2410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48 channels @ 48^2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A80EE1-24B8-4A34-A376-963B592F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28900"/>
            <a:ext cx="1638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4C219B-81A6-4924-8E50-67D78B0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28900"/>
            <a:ext cx="1638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DAC452-EAFB-44E9-9A79-56ABB662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432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FiLM styles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CA3D39-875F-4F9B-AC85-F02FF679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8610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 x 96 parameters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9E98A8-CE73-41B7-A6F5-25620961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66900"/>
            <a:ext cx="1638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8C4F3B-13C8-4FDD-B9AA-D2F1DB21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66900"/>
            <a:ext cx="1638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700DC9-7309-4EB0-8895-C21BACAB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812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Evidence c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3AC943-D8C0-435F-B6D4-8D9B8130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2410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1 channel @ 48^2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77B9AD-966A-4183-9E0F-801BCBA2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66900"/>
            <a:ext cx="1638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8C14FB-9B7E-429E-9A8D-A2B1BF76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66900"/>
            <a:ext cx="1638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9CCB76-F36F-4BED-97BB-FF0D7D9A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9812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5F6B76"/>
                </a:solidFill>
              </a:defRPr>
            </a:pPr>
            <a:r>
              <a:rPr sz="1500" b="1" i="0">
                <a:solidFill>
                  <a:srgbClr val="5F6B76"/>
                </a:solidFill>
              </a:rPr>
              <a:t>Edit gate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39E396-37EF-476D-B8D0-29430AAF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1447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separate policy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23AC00-8869-4AD0-B32E-3A38CECA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447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833DAA-D51C-4C75-AD96-220AF1E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447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9E2529-D908-44D8-A1F5-0AE379A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3A5E"/>
                </a:solidFill>
              </a:defRPr>
            </a:pPr>
            <a:r>
              <a:rPr sz="1500" b="1" i="0">
                <a:solidFill>
                  <a:srgbClr val="173A5E"/>
                </a:solidFill>
              </a:rPr>
              <a:t>Content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9E6008-D477-45F2-BC62-EEAF25C7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48 @ 48^2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517C73-4A44-42A0-AEAC-D6FE367E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1000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1ED8FF9-1093-485F-BDCC-E69E6EF0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1000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2DB7C9-4052-463F-9384-28895E40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243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Stage 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914F57C-AE3D-40A6-A630-89070B15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67200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48 -&gt; 96 | C48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FiLM + skip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0B1AA3-18C1-4C95-88D4-21F6081F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E8ACD2-83E1-49B8-8EC9-F1FA2004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1000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1E40BB-32AE-4BD4-BAE2-D3135D87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243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Stage 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D6BB65-E499-44DE-837C-EB8ECD47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67200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96 -&gt; 192 | C36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FiLM + skip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1349C0-7B52-43A2-A646-33B9279E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000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A1A1EE-1F3F-4025-B18C-701F790A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000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FF7DA3-1AE9-498E-9731-1222EFB1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Stage 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F26A5EF-895C-41E9-81C5-EAAE8AFA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192 -&gt; 384 | C24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FiLM + skip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A91C436-2B77-4833-9DDA-7092C5EA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13525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BDFCEE-CB6C-475C-A8B7-D2DB20BB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1352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939307D-7C0A-49F9-ABCB-D862934B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243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Detail head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AD2DF34-493A-40C6-A435-495DBEFE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r_hat: 3 x 384^2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5A432DD-F7C3-4F98-ABE1-66E4E60B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0"/>
            <a:ext cx="1466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19947BE-A8A6-460F-AE52-F4B04480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774F717-3B0B-49D6-A76E-F14C4407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9243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Gate + HPF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F3155E6-8AAD-4389-B0A4-AA3FA360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alpha * c * HPF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BFDD17-26F9-49F5-9DB8-DFD3BAF8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48250"/>
            <a:ext cx="598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5F6B76"/>
                </a:solidFill>
              </a:defRPr>
            </a:pPr>
            <a:r>
              <a:rPr sz="1350" b="0" i="1">
                <a:solidFill>
                  <a:srgbClr val="5F6B76"/>
                </a:solidFill>
              </a:rPr>
              <a:t>resize-convolution at each image-space upsampling stage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DABBEB-5DD3-45A0-8D3C-62C7BF8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388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0F92F7-A781-4E01-B75C-53899883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57850"/>
            <a:ext cx="868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The confidence map scales the SR residual. The edit gate is used only in synthetic edit mode.</a:t>
            </a:r>
          </a:p>
        </p:txBody>
      </p:sp>
    </p:spTree>
    <p:extLst>
      <p:ext uri="{BB962C8B-B14F-4D97-AF65-F5344CB8AC3E}">
        <p14:creationId xmlns:p14="http://schemas.microsoft.com/office/powerpoint/2010/main" val="10570179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C8F66C-EF2F-4DB5-9696-BFAE3108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B74D85-5A64-4936-8005-0019CC64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Reconstruction mode and edit mode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7CDF5-E2B8-4DB4-A6F3-1E01FA1B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DF995-87CE-4002-B00B-2CC9D2EF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DBF9A-986D-46F4-BF75-95954C50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984038-3CBA-43DC-806B-32AF5E3D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21A4C-B472-44DC-8484-E8B00E88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Design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8A8C2-A5AA-4C7F-ADD4-CF73A55A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SR reconstruction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00B3B-67EC-4B7F-89EE-533278CA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Prompt edit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80B61-9D27-4BF0-ABCD-1068E434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ECCB1-12DB-4782-A996-94B9C37A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40DE7-43C5-469B-81BC-8B8AFC3C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0502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null or weak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3447D-C438-4E73-A590-E8D8AFA5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0502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strong counterfactual prompt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46CA3-D0C0-46B1-A223-FBAD4E41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73C64-7D2A-4A33-960C-42CFFB2C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Residual permission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DA3CC-6C21-458D-980E-8D72B133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032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evidence confidence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0FDBE-C5D6-4C68-8DC8-11C52014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032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separate edit-permission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7F09E3-5B7B-4356-8EB6-19FF0713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1F6A14-3582-4637-B614-F569AC4A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Frequency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4AF16-9DBF-48C7-9C5F-8CAE3C66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high-pass detail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DCD8D6-9286-4FD3-A422-C698D6EB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9562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full-band residual allowed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6143D-4C47-45BF-9E6E-FD8AEE57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0E9AF1-7748-4DC1-A8D6-5BDE5FA8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Sensor consistency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646746-6A54-4FE3-B809-D4EF007D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9092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strict / back-projected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2FE85-6F58-4D1C-A177-DA7EF477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9092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soft LR consistency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9685D0-9F33-47C0-9FA6-43EA0E6D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E57EBF-D92D-471A-9B9A-2A686DA1A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8622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Required label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C99B3-55EB-47BE-A2F6-2EF66FDB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8622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Sentinel-like estimate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38BF1-B7B3-40CA-B9D1-43721747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86225"/>
            <a:ext cx="3943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synthetic_edit=true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A2D79-F399-4BD5-8D1C-A448976B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3A5E"/>
                </a:solidFill>
              </a:defRPr>
            </a:pPr>
            <a:r>
              <a:rPr sz="1425" b="1" i="0">
                <a:solidFill>
                  <a:srgbClr val="173A5E"/>
                </a:solidFill>
              </a:rPr>
              <a:t>Current experiment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9B34F8-E614-482F-A9C9-002ADED9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62550"/>
            <a:ext cx="6858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4E05E0-BF42-4D17-80E8-00139F3E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10150"/>
            <a:ext cx="706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prompt path disabled; only SR reconstruction is scored with PSNR / SSIM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6CB87C-0A83-445A-99D4-8E21A28F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9120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E9F214-A348-47F5-B752-3086F247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810250"/>
            <a:ext cx="883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Edit-mode outputs are synthetic and are excluded from reconstruction metrics.</a:t>
            </a:r>
          </a:p>
        </p:txBody>
      </p:sp>
    </p:spTree>
    <p:extLst>
      <p:ext uri="{BB962C8B-B14F-4D97-AF65-F5344CB8AC3E}">
        <p14:creationId xmlns:p14="http://schemas.microsoft.com/office/powerpoint/2010/main" val="16815619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5E117A-9AF0-4850-B9B3-A0367AC4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FA3F3C-9E87-4DBB-91EA-24867168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Stage-wise training 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DF4EE-0485-455B-937E-0131C497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73BDF-D31F-4ECD-9F41-D021603A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964BD-C141-40A5-8E22-7BC66C72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0013A-41A8-4353-83F7-2B7224F3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33600"/>
            <a:ext cx="5143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DC5D1-762D-40A0-97A1-60E9AF77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33600"/>
            <a:ext cx="5143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CAB29-9668-4A52-91B0-3A63F9E6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33600"/>
            <a:ext cx="51435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53C19-7F06-46AA-B84A-DB1F883C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076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ABAA5-B5C1-4F47-8A15-49405E8C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207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D6B2C-3F8D-4738-A6DD-06E795AE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1.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30222-91CC-49DC-B9C9-AB17CD6F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deterministic RGB fidelity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2CC26-88C7-405D-81D5-25002459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76400"/>
            <a:ext cx="2076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CEA3A-19F2-4837-B166-349C1ABB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76400"/>
            <a:ext cx="207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21781-565B-4C44-91AF-B4032CB0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907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2. Residual VAE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A45F6-78A3-4CF1-BBFB-501362E1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3360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encode x_S2 - x_base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4691C-440F-47C1-A7EA-2A92BC30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2076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646F2-9303-4D2B-AAC3-12E23457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76400"/>
            <a:ext cx="207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87D93-9126-4F10-B663-79C0E6DF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3. Diffusion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5013B-9D83-4CC6-A6C8-B525A4CC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predict residual latent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75967-CE84-4D51-8F09-049BEBD9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76400"/>
            <a:ext cx="2076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85980A-09FC-4427-A02D-22E36130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76400"/>
            <a:ext cx="207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8A045-B2EB-4DBF-BF62-F7293886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907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4. Joint refit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EA8363-B457-4121-A99E-A65A94C2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33600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controlled correction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C865D-24EF-4099-ADF7-94947441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3A5E"/>
                </a:solidFill>
              </a:defRPr>
            </a:pPr>
            <a:r>
              <a:rPr sz="1425" b="1" i="0">
                <a:solidFill>
                  <a:srgbClr val="173A5E"/>
                </a:solidFill>
              </a:rPr>
              <a:t>Module update schedule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F584E5-2787-4A8F-B309-5ACF27F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DF13C8-045D-45B0-862E-22885994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20573D-76AD-42BF-B094-7C82F41E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433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Base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E20CB4-2097-4120-A84F-76BD3B64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VAE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66730A-1160-42AD-AD6A-E05ECD43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433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Diffusion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DCB1F4-3929-4B02-AD3F-BA88B060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LR encoder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AEF2A5-791C-4E93-8489-1DF8FC0E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43300"/>
            <a:ext cx="2419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Mapper + decoder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9F354E-DF7A-4888-8E3D-39A39501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9F45CC-6A69-4295-8412-B50EAD70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338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2933"/>
                </a:solidFill>
              </a:defRPr>
            </a:pPr>
            <a:r>
              <a:rPr sz="1200" b="1" i="0">
                <a:solidFill>
                  <a:srgbClr val="1F2933"/>
                </a:solidFill>
              </a:rPr>
              <a:t>1. Base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D827B5-4CC2-4B3B-A438-057FBCEF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338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train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8F35BE-6EBE-4F93-BB80-ECFDA908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338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452594-CC1B-41E9-8BD6-4825B773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338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-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4E6C67-6DA2-4BBA-9B3C-5F471A10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338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DF72F0-A50D-4129-934D-C07AC0E9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338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-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C93B5D-DDFC-45A6-8FB7-62C6BCED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4B7951-AF18-4731-91E1-BDBB38DE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2933"/>
                </a:solidFill>
              </a:defRPr>
            </a:pPr>
            <a:r>
              <a:rPr sz="1200" b="1" i="0">
                <a:solidFill>
                  <a:srgbClr val="1F2933"/>
                </a:solidFill>
              </a:rPr>
              <a:t>2. VAE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A1C962-03EF-4A3B-A21E-A295DE6B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338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frozen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9F7C9A-0A10-42C8-8441-14DA19CC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338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train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D3BFD89-DA16-4667-BCF4-A77C5464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338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-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66F623-1083-43F1-8138-2DCC7828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338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train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BB92A1-F009-4770-AE24-1016838D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3387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train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A2EB1B-AEC7-416A-B024-D821BD1E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E036B2-87C0-4F35-9F55-E41BBE50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339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2933"/>
                </a:solidFill>
              </a:defRPr>
            </a:pPr>
            <a:r>
              <a:rPr sz="1200" b="1" i="0">
                <a:solidFill>
                  <a:srgbClr val="1F2933"/>
                </a:solidFill>
              </a:rPr>
              <a:t>3. Diffusion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4DF742-BDDE-4FB2-80D7-742B5E9A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339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frozen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F3BEDF-3AC2-4C42-B2EF-96FFE288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3392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frozen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DFD902-2EF5-4124-867B-68B25418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339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train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FDA465-7901-4F22-B0B5-BCDB021E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3392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condition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54DAE07-BFC9-4A5D-82C1-72D44976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339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frozen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A2AFA9-46A2-498D-BBE9-B2BF6FE5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262D2E-1546-4F0D-B861-39E2FAF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3397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F2933"/>
                </a:solidFill>
              </a:defRPr>
            </a:pPr>
            <a:r>
              <a:rPr sz="1200" b="1" i="0">
                <a:solidFill>
                  <a:srgbClr val="1F2933"/>
                </a:solidFill>
              </a:rPr>
              <a:t>4. Joint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8C466A4-EA19-4F82-BAE6-C9F6A7FE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339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frozen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71C939-C4A1-4F19-8D9E-A05B59E9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33975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frozen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F5690E1-673E-48CF-AEE8-D3EAB72B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339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frozen first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6A77CF-8047-4C57-AF3A-2D89062E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33975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train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9A2A38F-941A-499E-9AE1-7797245B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13397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933"/>
                </a:solidFill>
              </a:defRPr>
            </a:pPr>
            <a:r>
              <a:rPr sz="1200" b="0" i="0">
                <a:solidFill>
                  <a:srgbClr val="1F2933"/>
                </a:solidFill>
              </a:rPr>
              <a:t>train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E7545C-82C2-43C6-8094-F8B3CA55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772B"/>
                </a:solidFill>
              </a:defRPr>
            </a:pPr>
            <a:r>
              <a:rPr sz="1350" b="1" i="0">
                <a:solidFill>
                  <a:srgbClr val="D9772B"/>
                </a:solidFill>
              </a:rPr>
              <a:t>Selection rule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3500BC7-647B-42C1-8AD9-7AA1C44B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24500"/>
            <a:ext cx="889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best validation PSNR | early stopping | best + latest checkpoints only | final joint checkpoint stores the complete model state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B51DA93-E49F-4CF8-9FFC-23B06199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07695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5F6B76"/>
                </a:solidFill>
              </a:defRPr>
            </a:pPr>
            <a:r>
              <a:rPr sz="1200" b="0" i="1">
                <a:solidFill>
                  <a:srgbClr val="5F6B76"/>
                </a:solidFill>
              </a:rPr>
              <a:t>Prompt/edit adapters are a later, separately evaluated stage.</a:t>
            </a:r>
          </a:p>
        </p:txBody>
      </p:sp>
    </p:spTree>
    <p:extLst>
      <p:ext uri="{BB962C8B-B14F-4D97-AF65-F5344CB8AC3E}">
        <p14:creationId xmlns:p14="http://schemas.microsoft.com/office/powerpoint/2010/main" val="12411553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3A9BF9-CD2E-4237-BF2B-7F920C09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TRAINING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9FE570-6321-4CD9-913A-A1D12A0C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Training losses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8B819-A085-4D6C-A3AF-DAB9CFD9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0A211-63C1-4850-9E6B-5C233197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1F183-DAE5-4624-BD70-F985AB02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518D1-4BCA-4FBB-ADAF-6EB42B70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6C81F-939F-4DD4-8C1D-B3BC9B35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Loss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15E39-365C-4597-92DE-0F50B822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657350"/>
            <a:ext cx="5753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Question it asks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777A9-17CC-463D-958D-2C8D363F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573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Current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52761-A7CA-4F03-A93E-6AB528A2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D4D3A-674B-4FF7-B081-8353EE81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6AF0C-B8C4-4A7D-A1D2-866331A8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76475"/>
            <a:ext cx="575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Are pixel values correct?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5BFCC-C562-4E95-815E-781624B8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764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primary PSNR driver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B5EBE-DA3D-4A14-B685-EE8670AC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80CFC-FA98-4781-BDE6-4FB68316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SSIM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E2DB1-FA05-4085-9CBE-57A095E5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05125"/>
            <a:ext cx="575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Are local structure and contrast correct?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6995B-033A-47B6-A597-6A62BE87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051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primary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9A8A8-6904-4B26-A173-64B7D2B4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31BC4-A6DC-4CB6-8BD2-0E88373E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Multiscale MSE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E54CB-1410-49E2-AB46-D614AE51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33775"/>
            <a:ext cx="575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Does fidelity survive at several scales?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DF74E-B86C-4569-BAFA-BE4AECC1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337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supporting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FF69EC-7516-479A-B3E5-38F3B3C5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A96F2-0A39-4229-B7AF-481F1435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Radiometric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8EDDF7-BCAA-4315-A7EA-C611CF4C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62425"/>
            <a:ext cx="575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Are channel mean and contrast stable?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21E8C7-7A47-4F56-956E-2359F890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6242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supporting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07E03-559B-45B4-BD6E-55734688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0763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B6909-1FA7-4EA3-BD52-0FCD0986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2038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Residual / base guard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8853E7-2EDF-4FA8-A08C-E8C3FAE3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91075"/>
            <a:ext cx="575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Does correction match what base missed?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758842-2FC2-40D9-946D-E9B8AFFD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91075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regression control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482320-A9AA-4482-8C33-E1CEFB7E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911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CAC89A-8C9F-479B-AA7F-B1F0478D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10200"/>
            <a:ext cx="906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Loss weights are coefficients, not accuracy percentages. They must be interpreted with validation metrics.</a:t>
            </a:r>
          </a:p>
        </p:txBody>
      </p:sp>
    </p:spTree>
    <p:extLst>
      <p:ext uri="{BB962C8B-B14F-4D97-AF65-F5344CB8AC3E}">
        <p14:creationId xmlns:p14="http://schemas.microsoft.com/office/powerpoint/2010/main" val="131601530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DED02-5CB3-4075-97AF-08246FB0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EVALUATION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6C1FDB-827E-4470-9B5B-54A3F3DF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Evaluation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532DC-570F-4AF9-B2D0-EDAB8B4E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65185-5D1F-4428-86AD-BD39363F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EC22F-C53A-49C3-A0F1-7339B8C8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B55A5-FA66-41C7-AFEC-ADD1607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7E7A"/>
                </a:solidFill>
              </a:defRPr>
            </a:pPr>
            <a:r>
              <a:rPr sz="1800" b="1" i="0">
                <a:solidFill>
                  <a:srgbClr val="177E7A"/>
                </a:solidFill>
              </a:rPr>
              <a:t>Primary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15130-03F5-40D5-AAE0-2B18701F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18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A4570-8847-4AC0-8115-FA917913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A5E"/>
                </a:solidFill>
              </a:defRPr>
            </a:pPr>
            <a:r>
              <a:rPr sz="1800" b="1" i="0">
                <a:solidFill>
                  <a:srgbClr val="173A5E"/>
                </a:solidFill>
              </a:rPr>
              <a:t>Secondary diagnostics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04D39-20C1-47C6-A2D0-45C82BE0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518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12028-F941-48D5-BB74-E08D62CB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07AA1-46B8-414D-8048-8C164A42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L1 / MAE: absolute reflectance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46C0E-F6BE-4FE5-AFC2-C0E9C9F6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FA0F7-DDF0-458A-8EAC-1C3DB42A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PSNR: fidelity derived from MSE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C4DE8-0A54-4AD9-8041-4AE8AE82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0DFDE8-9498-4274-8DA2-8140394A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SSIM: local luminance, contrast,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A8D67-794F-4A77-87F9-634C0DAC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CFE61-151D-4648-917A-36EB6150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ERGAS / SAM: radiometric and spectral error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AB0D21-8D48-46E7-B35E-AD94C19A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4CA074-2FA8-45A4-A14D-F2257F9D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UIQI: luminance, contrast and correlation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1A182-C473-4C95-95AA-BA4832C3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B79CA-4ECF-4FD0-B49C-9030D07B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sCC: high-pass structural correlation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8A6FF-C495-4D42-BCE5-C1B9FFDD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CA5E9-B4A2-4CB6-8E72-6530BC9B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Re-degradation L1: Landsat consistency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830B30-9FD9-4A2E-AD51-AF9928A5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AAB13-426A-4E6B-9820-7ED54EB3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34000"/>
            <a:ext cx="822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PSNR is not percentage accuracy, and a sharp image is not necessarily correct.</a:t>
            </a:r>
          </a:p>
        </p:txBody>
      </p:sp>
    </p:spTree>
    <p:extLst>
      <p:ext uri="{BB962C8B-B14F-4D97-AF65-F5344CB8AC3E}">
        <p14:creationId xmlns:p14="http://schemas.microsoft.com/office/powerpoint/2010/main" val="10282750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6E81F61-2B52-4CF6-8695-23CEE28A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EVALUATION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B54720-CFF5-4B35-9BE2-C6B71FD3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Diagnostic outputs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919A7-A8EA-4FE4-9265-AC271D1C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D21BC-3FBD-4984-9DE2-8103EDB2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CB781-61C8-4EB3-A100-E22B4F2A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04CB7-62A6-4011-A2A1-FF8B1DED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3048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6749E-1E2E-4A9B-B9BD-493555FE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E300CD-24D4-4970-8B02-1C40D72E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7987E-4AD1-44D4-8EAE-B0EB7BBB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1FA00-D4E4-4308-9087-81A795EE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44B39-55DC-4FB4-8CC1-11D4976E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23D6E-778F-4264-AA97-6E6A92D2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20DA1-78CE-495D-804B-BB53A029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A1F3E-DB8C-487A-A124-7697F33D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3672E-3B7D-4596-88A5-7BA47C55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43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low-frequency anchor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8D448-571C-4DA9-8A75-19C33572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76400"/>
            <a:ext cx="3048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1E8"/>
          </a:solidFill>
          <a:ln xmlns:a="http://schemas.openxmlformats.org/drawingml/2006/main" w="14288">
            <a:solidFill>
              <a:srgbClr val="D977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D9616-0308-4640-B215-0D29E39D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F2B64-D369-4BF9-8380-E0066E4A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145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2725D-4A7D-402E-94C8-DD3BFEA5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288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01736-767C-4517-93BE-136EBC3A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A3409-EF4B-446E-B44D-BF734910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4B582-20EB-4885-BE5D-A5AC27EC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2A00C-B004-419E-8320-57295883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9F2F7-182D-4796-B68C-508DC071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4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Residual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641B2-D889-472E-A191-094F5B9B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43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signed added detail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9A2BBF-2E7C-479F-9966-EC8E2ED4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3048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14288">
            <a:solidFill>
              <a:srgbClr val="177E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180B48-CCC5-40C4-9E60-F17294B2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431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26EB0F-7B87-4CE2-B65C-E20089DF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431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CD3B85-3310-4580-99F6-F82488EB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431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F84332-208F-46A0-BC36-E4A34D40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431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3B632F-21EF-4CDE-96EC-34834F68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431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DC9A42-B416-4D13-89A5-E5C3044F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9431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67A3BA-72ED-4AB2-A50F-9BEF6CCF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431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81E473-77D0-43FF-B063-04C46749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431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63DAC0-ACFF-4705-B9B6-282D03CF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431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EDC83A-6615-4E3C-9DEB-66983216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2407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5A8DDA-F375-416D-A075-DD255E99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2407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C1348F-4EC5-4180-BA3B-1D9E98F3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2407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FD8E14-236A-4005-868F-B48BE7F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2407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6D91A0-604D-48F1-A984-A1C2D4E5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2407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DFCF32-0A02-4AFA-BEDC-4F80FF66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12407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F936FB-84F8-49A8-8DC2-A3DBCB02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2407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AD6278-BC7B-4852-9DE8-5995089A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12407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85C44D-AD1B-429D-A80F-6271666E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2407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29FC41-041F-42FB-A1D5-2B299980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0505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A3B818-5C63-4BB4-91BE-A4A0AE51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0505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6BCEF1-C2D7-4EDE-B9DC-B81B8A35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0505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B5B42B-3F60-4E6F-BD8F-7A0447C4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0505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BCDAEB-FD1B-448B-93ED-6BAC9522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0505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01F9B2-5A66-45D2-B716-1368A181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0505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70D460-DE06-42A7-B525-47E31749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0505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C56BCD-9528-4429-ABD8-AAC3F1B7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30505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532EF8-C007-47E7-A5F8-A20F030D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0505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866286-8C9F-4EA2-AF9B-1ED65C00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8602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B86123-86ED-4D3F-A783-70E5FC90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8602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268225E-97AA-4A0C-956F-3F5E878E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8602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2C8B197-2805-4E20-9214-52067051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8602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82FB7C-0D53-4B28-A243-01BD6F97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8602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BFF5BA-DDDC-4F8A-8CE5-9601456C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48602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BA1A6A-3BA8-40F0-9E69-139CA725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8602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75BF458-C826-4EB4-B884-AE23F043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8602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06374F-E3A0-40AF-B8C9-758FDD4D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86025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45E1E4-AED9-4A6B-AD74-E28A924C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670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AEF0574-18C8-4E73-AA8B-DA1FF340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6670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2925DE-94C8-4600-A837-4EC58A4C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670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808FDB-10AA-49D3-A05F-B3F3FEC6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670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577F9B0-EE2E-4524-B4E1-A037F4D1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A15A20-5148-42F0-8683-18B0326D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6670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3DC49E-6D0B-41C6-BD49-83E522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670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D7CC4C-9FA8-48BF-AA2F-2801B8A7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6670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B998A9-63BA-4D46-A803-66321C46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2381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EAAE43-D75F-43C8-8FA1-52C92AD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Confidence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AEAF7E1-1780-4EF6-B27F-A09DCC37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43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accepted support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9DA7AE-48C0-43B7-A6D6-617DCE74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3048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E77BEF-AD12-495C-A0CE-3D23BBE0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E94B9A7-63B6-45B7-AA62-28AC85A7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6F26393-398F-4446-B18C-ED3E8BBE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5D90C03-F661-48BC-8BD5-5D4FB265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2DB8EDC-DE91-4F72-85D5-915EE597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D13A96F-F0BB-412D-B0BC-78183F20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8EBDC27-F350-46DE-B32C-2A57C3E4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5F11B7-9ED5-4BDD-ABEB-7CF9B4C0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Error map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7496FF6-0736-4DA4-8A97-4D79BA57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387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spatial mismatch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A822A9B-0570-4CFD-812E-06D8A316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71900"/>
            <a:ext cx="3048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40B2617-1DA4-4519-9006-E482D693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862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4530D1A-8A7B-4E96-A84D-82B0FE5A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219DD75-F0DE-49D0-A4D7-91FC0364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9100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D091692-BBC9-4D51-8CF3-A8271FAA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143375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645B584-7677-4173-BF24-F11DCA13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95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5048B4D-B4E5-4EF3-BAD3-026C9DFE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43375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391C36C-3F24-407A-90DC-657EBA7D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38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A682E9E-96C0-4C35-8CE7-521C53D9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38625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4F54E12-BBB9-409C-B107-B8AE12A1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804F0F-D445-4FD6-9BCA-50D4DDCB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38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Fourier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CF8FFEC-29E0-4D52-ADB1-955F432E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387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periodic artifacts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CA818B5-17C3-462E-B2C8-55F7B4B2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71900"/>
            <a:ext cx="3048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8F6F0B7-8743-48B0-B11E-4682F59E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C6AD115-F2FF-4A12-A13C-E712521A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1B296C1-779B-48D1-9C27-3286B7B9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243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70E2CAB-EC58-42DA-A915-4B3D79AA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386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53E5079-5EEA-4B27-8A25-D82B91C5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3CE08C1-0FE9-42F3-B916-2C12D5E1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672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6698C71-6AF2-4F0D-9777-AD4EE4FC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815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7CA228E-8049-4846-BEF5-E2AED82A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38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Wavelet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7BE9210-F884-40CA-8CC4-EEB7347E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387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directional detail</a:t>
            </a:r>
          </a:p>
        </p:txBody>
      </p:sp>
    </p:spTree>
    <p:extLst>
      <p:ext uri="{BB962C8B-B14F-4D97-AF65-F5344CB8AC3E}">
        <p14:creationId xmlns:p14="http://schemas.microsoft.com/office/powerpoint/2010/main" val="12949889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3FA4DE-9117-4014-ABFF-8DCBB5FF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RESULTS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0298C9-E033-4B02-ABF4-6FC0ED5E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Initial comparison of three model variants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822C2-3149-4DC2-8440-D1A6D159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6"/>
                </a:solidFill>
              </a:defRPr>
            </a:pPr>
            <a:r>
              <a:rPr sz="1350" b="0" i="0">
                <a:solidFill>
                  <a:srgbClr val="5F6B76"/>
                </a:solidFill>
              </a:rPr>
              <a:t>Single split | 28 test patches | 4 stochastic samples | 20 diffusion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305C9-2011-4855-B71D-97E89418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2AD4B-EB68-4AD2-9CF7-4E9E6C2F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B14AC-9A7A-4B0C-A758-A70F170D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06AF4-6E91-489F-85F8-89D622D5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1CDA8-90F3-4457-8D92-7F07AB84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3086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Experiment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0BE00-E1B0-4151-B52E-F5EE9277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4785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L1 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7148C-6009-4115-9B25-7239FF89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PSNR 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17B54-F6AE-4F3B-AEE7-1BB5DF65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4785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SSIM 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75AE8-EB68-4FE8-AAF1-E604D26A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47850"/>
            <a:ext cx="156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Edge F1 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42CDE-DCD8-44AC-8230-BFCC4FB1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12360-0603-4B5B-9456-F481D274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RGB standard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2EEC9C-A31C-4588-8941-7EDB570D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241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0.01426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DB7FA-6947-4CEE-BD25-AB0AEE44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241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33.44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F7C06-CF23-4358-BD55-9B25E637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241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0.8580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31E80-9983-4CFE-B885-807D4395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0.0712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18DAA-DA80-43AD-9DBE-4B776287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1AC51-8898-4ED1-9067-EA9B1CA1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RGB fidelity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E55E9-56FD-4756-B805-E9A8B2A9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99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0.01507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AA4573-1285-42AC-B3FB-23D4AEC5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99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33.29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219D9-4C1A-4DEF-8CF4-864E580A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99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0.8510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BEACF5-BF7E-4E36-84DD-0C063366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099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0.0340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70AE40-C376-4BB4-9578-7E05DBFC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95F440-08E9-4272-B3D5-0C02A6D3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Multispectral fidelity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8E5449-A38F-4D92-A3B0-BD073B77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957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0.01546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F71CE8-7DD5-4171-B074-7EB84B2C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957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32.97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3C7DBE-C158-4643-9749-93BE573A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957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0.8538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78D2EE-062B-4D98-BEFB-1E5AC868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95725"/>
            <a:ext cx="156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0.0904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DABA4B-4E7B-49C0-8BCD-46C4DE3B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Best PSNR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772786-D09E-4D78-A1C5-83F6354E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1485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634FB8-EEC9-4B2F-B795-32BB29BA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14850"/>
            <a:ext cx="561594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3636D8-4B2F-4E77-966C-C6153EF8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76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77E7A"/>
                </a:solidFill>
              </a:defRPr>
            </a:pPr>
            <a:r>
              <a:rPr sz="1350" b="1" i="0">
                <a:solidFill>
                  <a:srgbClr val="177E7A"/>
                </a:solidFill>
              </a:rPr>
              <a:t>RGB standard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BFDE74-B83D-4E81-BD67-0784D236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Best edge F1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6B345F-37B9-4A56-A7E1-D78AE873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53000"/>
            <a:ext cx="638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0">
            <a:solidFill>
              <a:srgbClr val="F3F6F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EA0491-190D-4F97-B0CF-9240BCE5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53000"/>
            <a:ext cx="4467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C448AA-E6D8-43F8-9875-64F7CB60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14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D9772B"/>
                </a:solidFill>
              </a:defRPr>
            </a:pPr>
            <a:r>
              <a:rPr sz="1350" b="1" i="0">
                <a:solidFill>
                  <a:srgbClr val="D9772B"/>
                </a:solidFill>
              </a:rPr>
              <a:t>Multispectral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9E5B77-7668-4BA2-83D7-E291CCCF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245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37C637-37D9-46F3-B3D2-A5FC46EC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543550"/>
            <a:ext cx="931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This table compares complete models. Each model must also be compared with its own SwinIR base.</a:t>
            </a:r>
          </a:p>
        </p:txBody>
      </p:sp>
    </p:spTree>
    <p:extLst>
      <p:ext uri="{BB962C8B-B14F-4D97-AF65-F5344CB8AC3E}">
        <p14:creationId xmlns:p14="http://schemas.microsoft.com/office/powerpoint/2010/main" val="23948774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9B4E8-07B8-4CA7-9353-3B9F53D4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RESULTS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E5BA46-D7ED-4AE5-AC01-97C7C36C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Analysis of the initial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5B144-8893-402E-AEB4-90A2CEB9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D29B5-BEC5-4C65-A4D2-CF4EB1B3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3B309-79EC-4920-80BB-A8136D3E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8B20D-3D3C-43BF-A79B-90D50C11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799D4-6B22-4FDE-BFA6-07DC41E8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52550"/>
            <a:ext cx="1032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Residual Landsat-Sentinel radiometric mismatch remains in the pair.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6E126-D1A3-4E62-9FF8-1AFA9813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5B279C-1384-4BB6-A620-FA718354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032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The old multispectral design allowed NIR/SWIR to shift base RGB.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50B21-945A-4E41-8A89-236C610C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9293B-979A-4B9E-B726-75D957A0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1032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Diffusion can add texture that does not match the target pixels.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F90F32-2BEA-41AD-A44B-D785D1AD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DC17F-1DD6-420A-9FAD-9B1ADD07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032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Joint tuning can overfit the decoder to training-specific patterns.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6D531-5875-440B-8FC4-3805613E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78D12-C0CD-4136-A577-02BA3F4A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1032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Registration and temporal change impose an upper bound on PSNR.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AF60E-3E22-4A87-A891-7531A91B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F20E9-7B7D-4A67-87C4-8C444DE2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10325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A small test set creates unstable rankings.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2F9C7-5570-47B7-9DCA-547418F1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512F35-C782-4CC8-808A-70FEF8B5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95950"/>
            <a:ext cx="960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Next experiment: test calibration, multispectral guidance and residual scaling separately.</a:t>
            </a:r>
          </a:p>
        </p:txBody>
      </p:sp>
    </p:spTree>
    <p:extLst>
      <p:ext uri="{BB962C8B-B14F-4D97-AF65-F5344CB8AC3E}">
        <p14:creationId xmlns:p14="http://schemas.microsoft.com/office/powerpoint/2010/main" val="14285041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EAED9-D99A-4F37-9017-ECFBF8790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EXPERIMENT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065B7A-A97F-4E81-8F02-0A1C6CC4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Revised RGB harmonization and multispectral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AEF98-A109-4D9B-A069-77CF0A70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32391-0D8B-416E-9D2E-766C160E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30EE1-F224-4214-AD60-CF4639B8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00520-8FF4-4EFC-8CB1-7601F82A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76500"/>
            <a:ext cx="5143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DAD39-E87B-48CC-9C09-44B471FC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76500"/>
            <a:ext cx="5143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B956F-0EB5-4474-BADC-32AF275C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5143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A7840-0C50-4070-B6DB-C9EA0E98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0574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3A113-E978-4F26-8BDF-45176CDC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057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DAF9E-94CD-4F6A-803B-DB0A804B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1828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5F6B76"/>
                </a:solidFill>
              </a:defRPr>
            </a:pPr>
            <a:r>
              <a:rPr sz="1350" b="1" i="0">
                <a:solidFill>
                  <a:srgbClr val="5F6B76"/>
                </a:solidFill>
              </a:rPr>
              <a:t>Train patches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90F1B-767B-4C00-8981-D360C5A6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fit per-channel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slope + offset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1F0EE-74F4-43FB-9D84-62C97903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05000"/>
            <a:ext cx="209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93625-F767-4DB4-9999-E463FACB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050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726F4-83EA-4531-9C6E-5C8851D7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193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D9772B"/>
                </a:solidFill>
              </a:defRPr>
            </a:pPr>
            <a:r>
              <a:rPr sz="1500" b="1" i="0">
                <a:solidFill>
                  <a:srgbClr val="D9772B"/>
                </a:solidFill>
              </a:rPr>
              <a:t>Harmonized RGB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78A56-6156-4880-8C48-2537EDEE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622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Sentinel_30m = a x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Landsat_30m + 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DBDC8-2F08-4354-AB91-5C7A98E4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21717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57561-6C19-4485-AB55-42343DFF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2171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1AB27-CAB2-435A-8A1F-51BAD0C1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7E7A"/>
                </a:solidFill>
              </a:defRPr>
            </a:pPr>
            <a:r>
              <a:rPr sz="1350" b="1" i="0">
                <a:solidFill>
                  <a:srgbClr val="177E7A"/>
                </a:solidFill>
              </a:rPr>
              <a:t>Separated branches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26E256-C885-4328-BEBE-6E0C68E8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33650"/>
            <a:ext cx="1981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RGB -&gt; base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6 bands -&gt; residual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448ED-8EA2-4184-9A30-32A5A8AF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05000"/>
            <a:ext cx="2190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A73BF3-4CCE-4793-B8F4-1EB46D27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0500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7D057E-E923-400C-BA3C-2D8F56DC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1930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A5E"/>
                </a:solidFill>
              </a:defRPr>
            </a:pPr>
            <a:r>
              <a:rPr sz="1350" b="1" i="0">
                <a:solidFill>
                  <a:srgbClr val="173A5E"/>
                </a:solidFill>
              </a:rPr>
              <a:t>Conservative joint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01F59-1081-47F8-B894-05F64E88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336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freeze diffusion</a:t>
            </a:r>
          </a:p>
          <a:p xmlns:a="http://schemas.openxmlformats.org/drawingml/2006/main">
            <a:pPr algn="ctr">
              <a:defRPr sz="1200" b="0" i="0">
                <a:solidFill>
                  <a:srgbClr val="5F6B76"/>
                </a:solidFill>
              </a:defRPr>
            </a:pPr>
            <a:r>
              <a:rPr sz="1200" b="0" i="0">
                <a:solidFill>
                  <a:srgbClr val="5F6B76"/>
                </a:solidFill>
              </a:rPr>
              <a:t>select residual alpha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55D77-BD68-4641-9557-7A880477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A82DF-09CB-4B97-A719-7DA9DD6D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Calibration is fitted on the training split only, and the fitted coefficients are saved.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E8518A-EDB0-4360-AB83-75C61D89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863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36F54B-E22F-4569-B901-D0616F40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969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Residual scaling is selected on validation data; alpha = 0 returns the base model.</a:t>
            </a:r>
          </a:p>
        </p:txBody>
      </p:sp>
    </p:spTree>
    <p:extLst>
      <p:ext uri="{BB962C8B-B14F-4D97-AF65-F5344CB8AC3E}">
        <p14:creationId xmlns:p14="http://schemas.microsoft.com/office/powerpoint/2010/main" val="166444222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7317D0-4989-4FEB-A818-1DF68AD4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EXPERIMENT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45FB86-FBCD-4589-9D8F-6BB99AEE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Controlled experiment variants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A03FE-6B69-4CC7-9D8B-9D17C84D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F0C3E-6232-48A7-8948-8EBA66FA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FFEEC-2EEB-4F2B-B489-E8E3406A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8E198-5646-479F-BF78-8ABFC46E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85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726AE-BF9E-403C-AA96-80B0C6AC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276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Experiment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978D5-7DEF-40A9-A137-D7F30FDB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38300"/>
            <a:ext cx="251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RGB harmonization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EEA23-0433-461E-9808-4B72548C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830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Base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4E4F2-3052-4E47-B0E0-7F7A04ED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3830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Residual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E7CB44-7CA1-4A65-B1FE-CA305060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1085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AA0C5-517B-43A4-81F6-2448E5E1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RGB fidelity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AB8A2-9BF0-4809-A145-3444A9AA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1932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D6054-8AAD-44CC-91CD-61D2A61C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932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RGB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C5E97A-F645-4427-885B-AEE30F8A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1932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RGB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B0BDB-C2DF-47D3-8700-0DC61135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1085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D97A1-1A4C-4897-8EC5-24E7537E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Multispectral fidelity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645F9-6E55-4546-990C-94A0797A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0987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D3322-6E8C-42A7-A5FB-B56AEC15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098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6 bands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DF670D-A02E-4A8A-B056-B1A8A245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098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6 bands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789BF6-220B-4C2E-9D8E-1FD68434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85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2D59C-9B7E-474F-BEC2-074FFD95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RGB harmonized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81EDC-620D-4081-88A3-46FA7B70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0042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Yes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DE32A-FC67-4091-A459-083EC0C0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0042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RGB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B3603D-8D59-465D-8367-3E510D4C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042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RGB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22F9C-E402-45D7-BD3F-6BB4ED06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10858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66B7B-B89D-4569-A164-537DC776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Multispectral guided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2642B-4D7A-4DE1-BDEB-F83BF40B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90975"/>
            <a:ext cx="251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Yes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19A04A-7235-40B8-BCAC-EE869430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909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RGB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155BA4-1D1A-4825-A806-8C6588E4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990975"/>
            <a:ext cx="2228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</a:defRPr>
            </a:pPr>
            <a:r>
              <a:rPr sz="1350" b="0" i="0">
                <a:solidFill>
                  <a:srgbClr val="1F2933"/>
                </a:solidFill>
              </a:rPr>
              <a:t>6 bands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A5CEFF-ADC8-4645-822F-89F4DFC5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A5E"/>
                </a:solidFill>
              </a:defRPr>
            </a:pPr>
            <a:r>
              <a:rPr sz="1800" b="1" i="0">
                <a:solidFill>
                  <a:srgbClr val="173A5E"/>
                </a:solidFill>
              </a:rPr>
              <a:t>Acceptance criteria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104309-A483-4979-9B9D-6400F69D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933"/>
                </a:solidFill>
              </a:defRPr>
            </a:pPr>
            <a:r>
              <a:rPr sz="1575" b="1" i="0">
                <a:solidFill>
                  <a:srgbClr val="1F2933"/>
                </a:solidFill>
              </a:rPr>
              <a:t>PSNR delta vs base &gt; 0  |  SSIM delta &gt;= 0  |  L1 improvement &gt; 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635442-BA6E-41B8-8D74-5DC1AF93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8165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C8609B-245C-448C-AE86-7FBA4102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00700"/>
            <a:ext cx="842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Validation selects alpha from 0, 0.25, 0.5, 0.75 and 1.0. Alpha = 0 returns the base output.</a:t>
            </a:r>
          </a:p>
        </p:txBody>
      </p:sp>
    </p:spTree>
    <p:extLst>
      <p:ext uri="{BB962C8B-B14F-4D97-AF65-F5344CB8AC3E}">
        <p14:creationId xmlns:p14="http://schemas.microsoft.com/office/powerpoint/2010/main" val="188330996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A04E2B-EB00-4768-9868-1D7BF6C2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CONTRIBUTION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B13040-6D70-4A8F-8368-E429D3B9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Proposed research contribution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D51C9-317F-4FF7-A9C8-BC84821D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3757D-4AEF-48B7-A30E-A57BF473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976F2-8E90-49F4-8881-A0684D77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82A01-E351-475E-9102-A3D80DFA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F6B76"/>
                </a:solidFill>
              </a:defRPr>
            </a:pPr>
            <a:r>
              <a:rPr sz="1800" b="1" i="0">
                <a:solidFill>
                  <a:srgbClr val="5F6B76"/>
                </a:solidFill>
              </a:rPr>
              <a:t>Established components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8F512-FD89-451B-9F50-B5A81140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18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DE627-9388-4BCC-A1E7-96DD3400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7E7A"/>
                </a:solidFill>
              </a:defRPr>
            </a:pPr>
            <a:r>
              <a:rPr sz="1800" b="1" i="0">
                <a:solidFill>
                  <a:srgbClr val="177E7A"/>
                </a:solidFill>
              </a:rPr>
              <a:t>Candidate contribution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70CD1-315A-49D9-8E5F-147B54DB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518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045D7-7E81-4C43-AD95-CB674306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8DDA4-31E8-429F-BA65-C1905979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SwinIR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ECFF6-02D2-44DE-8F38-49496E3E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1BD8AC-6A09-4810-9E60-05C93A68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residual VAE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411C7-18A5-4597-87E7-C64CE58E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0A913F-B390-4D2A-BEA1-3EA1F05D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conditional diffusion U-Net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68A92-F369-407F-B2DD-9C76B758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6"/>
          </a:solidFill>
          <a:ln xmlns:a="http://schemas.openxmlformats.org/drawingml/2006/main" w="0">
            <a:solidFill>
              <a:srgbClr val="5F6B7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B476B-F41E-41EE-926D-35439107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FiLM decoder and wavelet GAN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0DE97-B9F5-4BD7-8DD8-841386AA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B1F24-187B-46B4-B973-FEF7FE1B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deterministic base and stochastic residual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0FCC32-BC50-4B74-9E34-5A6F4B8A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926F20-3194-48FD-AE6C-64B7C71C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separate reconstruction and edit policies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283E2-DA53-470C-9BE8-00228D71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079EC-F132-47D3-8EEF-BF90DDA8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RGB base with multispectral residual guidance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116102-2B9E-4AA6-A91C-DC6EF9E4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CFF1A1-2825-4D99-8C34-CDCC76CB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validation can select the base-only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6FF87B-6EB6-41B3-BD36-5798C243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7860E7-21FA-4CA1-8A32-E4715F2B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483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The contribution will be claimed only if controlled ablations show a repeatable improvement.</a:t>
            </a:r>
          </a:p>
        </p:txBody>
      </p:sp>
    </p:spTree>
    <p:extLst>
      <p:ext uri="{BB962C8B-B14F-4D97-AF65-F5344CB8AC3E}">
        <p14:creationId xmlns:p14="http://schemas.microsoft.com/office/powerpoint/2010/main" val="164614064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7AC1C9-10FC-4B54-93A8-58AF71F6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PROGRESS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4F9E07-5395-48EA-8A54-0A2E8095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Implementation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621C2-54B5-4546-89BA-53D7ECD5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706FE-635E-492B-BE26-3CA02AF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59D28-09BE-4838-A8D1-81DAA24A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D2BAE-5B68-46BA-9F6A-FEFF6F8D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9C807-4BA0-4896-8335-1B2F048B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90650"/>
            <a:ext cx="1042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Synthetic 4x and real Landsat-to-Sentinel 3x data pipelines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9C6E8-B418-4536-B8A9-8C160A48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A56DD-12CF-4EF1-935E-9453571B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042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QA masking, pairing, spatial splits, quarantine, and cached NPZ manifests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13B85-BCF8-40D1-B455-7897B16C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CB8FD-43EB-4801-9E8C-FB5B8600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042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RGB and six-band small/medium GeoDiff-GAN variants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3524D-F501-4C30-96D1-175BEE40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B9B44-7DAA-4BC5-B4F2-C223842C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1042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Stage-wise training, resume, early stopping, best/latest checkpoints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4DE2F-3E47-45D2-BBED-879E4800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C43C7-DD40-46A8-9A8D-D404C860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1042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Debug tensors, Fourier/wavelet maps, uncertainty, and per-patch 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24330-2C2C-4958-B593-D063D416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B7DCBD-0EC6-4E80-B07C-0CC9243E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67275"/>
            <a:ext cx="10420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Train-only calibration and dual-stream model path implemented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A1744-F28A-4D20-B0D7-66389CE0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76900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78395-4456-44C3-8A30-F3F65AAC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695950"/>
            <a:ext cx="906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Each experiment has its own config, manifest, calibration file and output directory.</a:t>
            </a:r>
          </a:p>
        </p:txBody>
      </p:sp>
    </p:spTree>
    <p:extLst>
      <p:ext uri="{BB962C8B-B14F-4D97-AF65-F5344CB8AC3E}">
        <p14:creationId xmlns:p14="http://schemas.microsoft.com/office/powerpoint/2010/main" val="167077270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5C3B5-D322-4BF4-A054-49D6B55D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LIMITS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FD2CC8-228A-46DB-94FD-2C7E6DA3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Limitations of the reference pairs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34A8C-EAE7-46A6-A787-5A82FDFD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EF845-BE04-4303-B105-3BE6D91B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375E2-BA4D-4DE2-A05A-5A3D72EE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34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1602E-9726-444B-9FC1-30728E51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7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1807D-E7E5-4088-A3DA-501E508C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371600"/>
            <a:ext cx="10325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Sentinel is a paired reference observation, not perfect hidden ground truth.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93A93-8BF5-4945-B803-D7D7E428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27A23-570F-4930-BD8F-044D54E7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66925"/>
            <a:ext cx="10325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Misregistration can teach false edges and reduce otherwise reasonable PSNR.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6F208-4EAD-4F51-BFBF-59838D1A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97424-ECAE-4078-92B8-2B6CDB16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62250"/>
            <a:ext cx="10325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A global affine calibration cannot model nonlinear band-response differences.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0DD5F-874B-4AB3-9752-5A783E47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33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94A71C-F2C6-4DA5-80CF-AFEBD158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57575"/>
            <a:ext cx="10325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A three-day gap does not guarantee no land-cover or atmospheric change.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6FBEF-1119-49D3-BC31-E18BDFC9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546A74-6C84-44C1-95DC-D9B300B3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10325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Some generated details may be incorrect.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CA800-49E0-4719-8B33-6A6759C0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D5F0F-C1F1-4415-9986-1A06339F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48225"/>
            <a:ext cx="10325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Current geographic diversity is insufficient for broad deployment claims.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B7DA5-5C0F-42BB-ACD3-BD18A72B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57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927266-DF5F-4180-8C26-E18722D5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76900"/>
            <a:ext cx="963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The output is a Sentinel-like estimate from Landsat input; it is not an observed 10 m Landsat image.</a:t>
            </a:r>
          </a:p>
        </p:txBody>
      </p:sp>
    </p:spTree>
    <p:extLst>
      <p:ext uri="{BB962C8B-B14F-4D97-AF65-F5344CB8AC3E}">
        <p14:creationId xmlns:p14="http://schemas.microsoft.com/office/powerpoint/2010/main" val="44708101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099BDE-BB9E-4538-98A3-173AB6FA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NEXT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DB89B1-B81B-4831-8D5C-875B58C7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Remaining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931F4-0A0B-4862-BB33-AFEC389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11965-D787-4167-AE12-BC08CCA9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4D993-38FE-4DF5-A1B3-8A1B5316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74F07-51BA-473E-A564-460F659C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95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E4CBB-7BCC-4053-9C00-A0CAFB61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19200"/>
            <a:ext cx="1042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Run harmonized RGB and multispectral-guided experiments.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B05A1-6760-48F4-949B-4EF12B64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95E5B-6A51-440D-ACD8-A6F5D9D6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66900"/>
            <a:ext cx="1042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Compare base versus final per patch, per tile, and by scene type.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27C32-5BA8-44B2-98FB-0EDC985B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972F0-3518-4518-8162-EC2B1289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1042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Audit calibration coefficients and registration-shift distributions.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C8501-D10B-4B0D-A381-FEF5D808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17B5D-F9AB-4330-B3A9-DBC94218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1042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Run spatial K-fold and complete-tile holdout evaluation.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8434D9-156B-47DE-9F44-E1E1E234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44438-F96F-4638-B35C-725D1095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042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Add recent open-source baselines, seeds, and confidence intervals.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D18A5-97D4-4493-AA1D-AA94E30B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115AC-DA83-4A3F-89E6-1237ABAA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1042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Add perceptual, wavelet and GAN losses only after PSNR/SSIM improve.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D11E64-4E0C-476B-B6B5-2B1164C0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3530CD-F325-418E-927A-7A582B36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042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Keep QGIS as the current analysis tool; evaluate ArcGIS integration later.</a:t>
            </a:r>
          </a:p>
        </p:txBody>
      </p:sp>
    </p:spTree>
    <p:extLst>
      <p:ext uri="{BB962C8B-B14F-4D97-AF65-F5344CB8AC3E}">
        <p14:creationId xmlns:p14="http://schemas.microsoft.com/office/powerpoint/2010/main" val="9667488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2B80C-FE1C-4B18-9335-E573AB2F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NEXT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579416E-1FA4-4D95-B7F4-5D5F5BDD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Possible outcomes of the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0E47A-21FB-4D17-8AFB-458483E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02044-3207-4BC9-9952-76CEF4E2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6DE8E-A812-4114-B326-46A5B780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51544-4D65-4472-ABA0-07C448A6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3238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3"/>
          </a:solidFill>
          <a:ln xmlns:a="http://schemas.openxmlformats.org/drawingml/2006/main" w="19050">
            <a:solidFill>
              <a:srgbClr val="177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ADE10-0128-4AEB-A058-3D5373FF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7E7A"/>
                </a:solidFill>
              </a:defRPr>
            </a:pPr>
            <a:r>
              <a:rPr sz="2850" b="1" i="0">
                <a:solidFill>
                  <a:srgbClr val="177E7A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FB564-CE60-4D6F-BDFE-CB1F61AC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F2933"/>
                </a:solidFill>
              </a:defRPr>
            </a:pPr>
            <a:r>
              <a:rPr sz="1800" b="1" i="0">
                <a:solidFill>
                  <a:srgbClr val="1F2933"/>
                </a:solidFill>
              </a:rPr>
              <a:t>Full model wins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079BD-4657-423B-A17E-6E44958C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6"/>
                </a:solidFill>
              </a:defRPr>
            </a:pPr>
            <a:r>
              <a:rPr sz="1350" b="0" i="0">
                <a:solidFill>
                  <a:srgbClr val="5F6B76"/>
                </a:solidFill>
              </a:rPr>
              <a:t>fidelity and detail improve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F5CDF-7A1E-4583-BE5F-53730CA8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3238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19050">
            <a:solidFill>
              <a:srgbClr val="173A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655DD-0260-4CC3-AE06-AEF89F89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145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73A5E"/>
                </a:solidFill>
              </a:defRPr>
            </a:pPr>
            <a:r>
              <a:rPr sz="2850" b="1" i="0">
                <a:solidFill>
                  <a:srgbClr val="173A5E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3CDDA-2CD9-47C4-8F3F-1E0356A2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76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F2933"/>
                </a:solidFill>
              </a:defRPr>
            </a:pPr>
            <a:r>
              <a:rPr sz="1800" b="1" i="0">
                <a:solidFill>
                  <a:srgbClr val="1F2933"/>
                </a:solidFill>
              </a:rPr>
              <a:t>Base wins reconstruction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1983F9-7DAB-417B-919B-13D91FDD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5623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6"/>
                </a:solidFill>
              </a:defRPr>
            </a:pPr>
            <a:r>
              <a:rPr sz="1350" b="0" i="0">
                <a:solidFill>
                  <a:srgbClr val="5F6B76"/>
                </a:solidFill>
              </a:rPr>
              <a:t>diffusion helps only perceptual/edit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55DF8-CB05-48E7-BA1A-1F3BAD5A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3238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1E8"/>
          </a:solidFill>
          <a:ln xmlns:a="http://schemas.openxmlformats.org/drawingml/2006/main" w="19050">
            <a:solidFill>
              <a:srgbClr val="D977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58438-1323-4580-AE2E-4F6F480F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145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D9772B"/>
                </a:solidFill>
              </a:defRPr>
            </a:pPr>
            <a:r>
              <a:rPr sz="2850" b="1" i="0">
                <a:solidFill>
                  <a:srgbClr val="D9772B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E4180-6E91-4FEE-9C18-55CC7EEC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F2933"/>
                </a:solidFill>
              </a:defRPr>
            </a:pPr>
            <a:r>
              <a:rPr sz="1800" b="1" i="0">
                <a:solidFill>
                  <a:srgbClr val="1F2933"/>
                </a:solidFill>
              </a:rPr>
              <a:t>Pair uncertainty dominates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728C50-9542-4F8E-B4E5-B5EC3D4C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6"/>
                </a:solidFill>
              </a:defRPr>
            </a:pPr>
            <a:r>
              <a:rPr sz="1350" b="0" i="0">
                <a:solidFill>
                  <a:srgbClr val="5F6B76"/>
                </a:solidFill>
              </a:rPr>
              <a:t>data quality must improve 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4CD3B-63DF-4BD3-8127-91BEEB89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05400"/>
            <a:ext cx="476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FAFDF-4928-4444-9805-CC3E48F4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24450"/>
            <a:ext cx="777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A negative result is still useful if the experiment is controlled and fully reported.</a:t>
            </a:r>
          </a:p>
        </p:txBody>
      </p:sp>
    </p:spTree>
    <p:extLst>
      <p:ext uri="{BB962C8B-B14F-4D97-AF65-F5344CB8AC3E}">
        <p14:creationId xmlns:p14="http://schemas.microsoft.com/office/powerpoint/2010/main" val="21100937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A25E2-CBEB-4C02-8F2A-8BA84906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CONCLUSION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A35A63-14A0-434F-89EA-97EA7562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Current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0DA35-CFC4-4446-AAE5-E5D7563B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FD9FA-5C23-4629-A1AF-2D687625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BD06E-1E42-4F85-9349-381E0A69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EFA5D-1E22-45C3-903F-3A39C5B1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77E7A"/>
                </a:solidFill>
              </a:defRPr>
            </a:pPr>
            <a:r>
              <a:rPr sz="2250" b="1" i="0">
                <a:solidFill>
                  <a:srgbClr val="177E7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6550A-1E4F-41B8-B67C-BFA0C6F5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61925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2933"/>
                </a:solidFill>
              </a:defRPr>
            </a:pPr>
            <a:r>
              <a:rPr sz="1725" b="1" i="0">
                <a:solidFill>
                  <a:srgbClr val="1F2933"/>
                </a:solidFill>
              </a:rPr>
              <a:t>SR is useful when matching HR data are unavailable, but the output remains an estimate.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0318C-7CB4-429F-A487-C9184A2C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4B5CE-6E5D-45C7-A47B-606C3B4E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77E7A"/>
                </a:solidFill>
              </a:defRPr>
            </a:pPr>
            <a:r>
              <a:rPr sz="2250" b="1" i="0">
                <a:solidFill>
                  <a:srgbClr val="177E7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414FB-6003-4F93-9E7D-C2E4F43E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43200"/>
            <a:ext cx="904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2933"/>
                </a:solidFill>
              </a:defRPr>
            </a:pPr>
            <a:r>
              <a:rPr sz="1725" b="1" i="0">
                <a:solidFill>
                  <a:srgbClr val="1F2933"/>
                </a:solidFill>
              </a:rPr>
              <a:t>Real Landsat-to-Sentinel SR is also a harmonization, registration, and temporal-matching problem.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98C54-BFD8-4A15-821F-29DC4AAB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66C05-0CC9-4286-BDE2-02D42187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77E7A"/>
                </a:solidFill>
              </a:defRPr>
            </a:pPr>
            <a:r>
              <a:rPr sz="2250" b="1" i="0">
                <a:solidFill>
                  <a:srgbClr val="177E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490CA-3D77-4B2F-B65B-502CA82B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67150"/>
            <a:ext cx="904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F2933"/>
                </a:solidFill>
              </a:defRPr>
            </a:pPr>
            <a:r>
              <a:rPr sz="1725" b="1" i="0">
                <a:solidFill>
                  <a:srgbClr val="1F2933"/>
                </a:solidFill>
              </a:rPr>
              <a:t>The model uses an RGB base with multispectral residual guidance. Confidence gating and validation-based scaling limit unwanted corrections.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6DDC3-40DA-4162-84C6-9421D3F4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33400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A89C5-5DB0-4BBB-88C1-B7510780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53050"/>
            <a:ext cx="8534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933"/>
                </a:solidFill>
              </a:defRPr>
            </a:pPr>
            <a:r>
              <a:rPr sz="1575" b="1" i="0">
                <a:solidFill>
                  <a:srgbClr val="1F2933"/>
                </a:solidFill>
              </a:rPr>
              <a:t>The next experiment must test whether the learned residual improves on SwinIR on held-out data.</a:t>
            </a:r>
          </a:p>
        </p:txBody>
      </p:sp>
    </p:spTree>
    <p:extLst>
      <p:ext uri="{BB962C8B-B14F-4D97-AF65-F5344CB8AC3E}">
        <p14:creationId xmlns:p14="http://schemas.microsoft.com/office/powerpoint/2010/main" val="15439984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AB5A2E-1D7F-4625-9424-30731F2F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DISCUSSION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B7D03D-5FCE-4A62-8B22-CF5B2ADF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Decisions required for the final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8734B-A1FE-45A6-A68D-85E8FB87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5E61F-24D2-4100-8743-2F365908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E89C3-CE39-4213-9AC4-069045F5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1B6D8-99C7-44E8-914E-DF8750C6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D9772B"/>
                </a:solidFill>
              </a:defRPr>
            </a:pPr>
            <a:r>
              <a:rPr sz="2550" b="1" i="0">
                <a:solidFill>
                  <a:srgbClr val="D977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4F9F5-1292-493D-AEE0-A5970CB9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90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A5E"/>
                </a:solidFill>
              </a:defRPr>
            </a:pPr>
            <a:r>
              <a:rPr sz="1800" b="1" i="0">
                <a:solidFill>
                  <a:srgbClr val="173A5E"/>
                </a:solidFill>
              </a:rPr>
              <a:t>Calibration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48528-97B1-4BA4-B250-0027EC95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288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Is train-only affine harmonization sufficient, or should nonlinear sensor-response calibration be tested?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1BC1C-9949-4BB0-B349-B48C6B82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B6CF2-EEFB-4D20-BE67-7F2BC8C6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D9772B"/>
                </a:solidFill>
              </a:defRPr>
            </a:pPr>
            <a:r>
              <a:rPr sz="2550" b="1" i="0">
                <a:solidFill>
                  <a:srgbClr val="D9772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F0A74-543C-4F66-86EE-691394E8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38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A5E"/>
                </a:solidFill>
              </a:defRPr>
            </a:pPr>
            <a:r>
              <a:rPr sz="1800" b="1" i="0">
                <a:solidFill>
                  <a:srgbClr val="173A5E"/>
                </a:solidFill>
              </a:rPr>
              <a:t>Geographic holdout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A1AB0-ADF2-4E9B-86E2-4927EAB7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Which complete city or tile best represents the intended deployment geography?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F0492-5A1B-4F2E-AA74-40093048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1C39B-6387-4BBD-BF00-96D623AA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49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D9772B"/>
                </a:solidFill>
              </a:defRPr>
            </a:pPr>
            <a:r>
              <a:rPr sz="2550" b="1" i="0">
                <a:solidFill>
                  <a:srgbClr val="D9772B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54975-38C5-484F-8B6F-864D130C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29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A5E"/>
                </a:solidFill>
              </a:defRPr>
            </a:pPr>
            <a:r>
              <a:rPr sz="1800" b="1" i="0">
                <a:solidFill>
                  <a:srgbClr val="173A5E"/>
                </a:solidFill>
              </a:rPr>
              <a:t>Operating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FE05F-95EA-49DE-AC7B-B4896B63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673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Should reconstruction and perceptual/edit objectives be reported as separate operating modes?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389A9-D92F-46EC-9FB3-4BE72386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912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7E7A"/>
                </a:solidFill>
              </a:defRPr>
            </a:pPr>
            <a:r>
              <a:rPr sz="1500" b="1" i="0">
                <a:solidFill>
                  <a:srgbClr val="177E7A"/>
                </a:solidFill>
              </a:rPr>
              <a:t>Questions and critical feedback are welcome.</a:t>
            </a:r>
          </a:p>
        </p:txBody>
      </p:sp>
    </p:spTree>
    <p:extLst>
      <p:ext uri="{BB962C8B-B14F-4D97-AF65-F5344CB8AC3E}">
        <p14:creationId xmlns:p14="http://schemas.microsoft.com/office/powerpoint/2010/main" val="197816813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BEA93-05D2-4FBB-A7ED-38FB6102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APPENDIX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26F623-E464-4DB8-8529-87C4AA75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Appendix: reconstruction equations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E2EF8-D9EC-46A2-A126-BAED6EF8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FA04D-B020-4388-BDF1-885BDDFB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EFD40-D854-40F4-99F0-FE8F7A58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470A0-6335-473F-9B20-74C220D7C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73A5E"/>
                </a:solidFill>
              </a:defRPr>
            </a:pPr>
            <a:r>
              <a:rPr sz="2250" b="1" i="0">
                <a:solidFill>
                  <a:srgbClr val="173A5E"/>
                </a:solidFill>
              </a:rPr>
              <a:t>x_base = B(y_RGB)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58F58-981D-4BFF-935E-C5C30859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177E7A"/>
                </a:solidFill>
              </a:defRPr>
            </a:pPr>
            <a:r>
              <a:rPr sz="2250" b="1" i="0">
                <a:solidFill>
                  <a:srgbClr val="177E7A"/>
                </a:solidFill>
              </a:rPr>
              <a:t>r_hat = R(y_RGB,NIR,SWIR,z)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1BB111-AD91-42D1-B14B-761D4951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D9772B"/>
                </a:solidFill>
              </a:defRPr>
            </a:pPr>
            <a:r>
              <a:rPr sz="2025" b="1" i="0">
                <a:solidFill>
                  <a:srgbClr val="D9772B"/>
                </a:solidFill>
              </a:rPr>
              <a:t>x_hat = clip(x_base + alpha x confidence x high_pass(r_hat), 0, 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D8E3D-4FA3-4E4C-AB56-D715CA87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91000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EDD72-9A0C-4224-B63D-01A25B74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F2933"/>
                </a:solidFill>
              </a:defRPr>
            </a:pPr>
            <a:r>
              <a:rPr sz="1875" b="0" i="0">
                <a:solidFill>
                  <a:srgbClr val="1F2933"/>
                </a:solidFill>
              </a:rPr>
              <a:t>PSNR = -10 log10(MSE)  for normalized reflectance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4114A-EA1F-4644-B890-F7393B71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29250"/>
            <a:ext cx="47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2B3F1-4B7F-4DDC-89A5-DCF40ADA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448300"/>
            <a:ext cx="651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Alpha is used only when validation performance improves over the base output.</a:t>
            </a:r>
          </a:p>
        </p:txBody>
      </p:sp>
    </p:spTree>
    <p:extLst>
      <p:ext uri="{BB962C8B-B14F-4D97-AF65-F5344CB8AC3E}">
        <p14:creationId xmlns:p14="http://schemas.microsoft.com/office/powerpoint/2010/main" val="164065831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8A7C60-2B6B-4551-8EDF-943AC64B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APPENDIX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7F1473-89E5-4BC1-9F16-EAF23A8C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Appendix: multispectral model tensor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A25F3-3977-4DA7-9125-83E09159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4922A-FE67-492A-BF62-F312950F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555C67-9AAA-4196-BA39-BB2C9460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E8FC5-E56D-486F-86EE-DC333B3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AE479-BC75-4E9C-9E1C-DD84A7CA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Tensor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91990-658A-4B98-8BB3-897327F3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428750"/>
            <a:ext cx="403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Shape without batch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178D21-2381-49C9-BA34-C461DEFF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6D3AF-39AA-4612-A802-31CB0CB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33F64-BF27-4120-8BB6-C9277AC3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97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Landsat RGB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62BDB-B000-4769-98CB-34821972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0977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3 x 128 x 128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F2403-4818-48B6-8E18-33887E49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97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base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DE772-822B-48B4-89CA-506CF76F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12FF0-4DC3-46F2-B799-1A52E1EA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Landsat multispectral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990A8-E628-4EFA-AE8A-8AEF4139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0032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6 x 128 x 128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5E9F9-A08A-4CBB-90AE-985A3244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03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residual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AB303-1DFE-49FF-AF88-AC1B6A10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106D7-BA8F-48E1-BDC7-B4965B0E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SwinIR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3E69A-8B21-4DF4-8383-8ECD1774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9087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3 x 384 x 384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91A20-6324-4591-96F2-2A24A90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deterministic anchor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5E44F-700F-405B-B2EB-483695E9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F88FB-F152-4EF3-91EF-12A987ED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LR features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CEB9C4-1B49-4540-8F04-6D822195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8142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24@128, 48@64, 96@32, 96@16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084813-5BCB-4DE3-B1C6-34CF7202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814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multi-scale skips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93C24-E921-4BA8-86B9-1C9DD23F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38E14-586E-456E-8698-A1C36ED2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Residual latent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AC4012-E202-4FC1-BB3F-62A958D2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7197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4 x 48 x 48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7E1107-21AA-4C2D-9953-528A8020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719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diffusion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4785BE-2EFD-4897-AE30-1AA9D6EE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D736B4-769D-4D7B-9916-99730488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625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Mapper outputs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613BB1-FEF1-483C-93AA-CA48CA02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6252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48 x 48 x 48 + 4 styles + 1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8D225B-84FA-46C7-89AD-791CA170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6252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decoder controls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247322-F933-4A56-8E59-FA9EB0B8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95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587EA3-39B3-4A50-BC5D-6C923E9C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307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F2933"/>
                </a:solidFill>
              </a:defRPr>
            </a:pPr>
            <a:r>
              <a:rPr sz="1275" b="1" i="0">
                <a:solidFill>
                  <a:srgbClr val="1F2933"/>
                </a:solidFill>
              </a:rPr>
              <a:t>Final RGB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D8B07E-5E56-42AF-A94A-A99B4089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53075"/>
            <a:ext cx="4038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3 x 384 x 384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7A8CCD-CD5C-4EF6-A2BF-EBA32D14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53075"/>
            <a:ext cx="3562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933"/>
                </a:solidFill>
              </a:defRPr>
            </a:pPr>
            <a:r>
              <a:rPr sz="1275" b="0" i="0">
                <a:solidFill>
                  <a:srgbClr val="1F2933"/>
                </a:solidFill>
              </a:rPr>
              <a:t>Sentinel-like estimate</a:t>
            </a:r>
          </a:p>
        </p:txBody>
      </p:sp>
    </p:spTree>
    <p:extLst>
      <p:ext uri="{BB962C8B-B14F-4D97-AF65-F5344CB8AC3E}">
        <p14:creationId xmlns:p14="http://schemas.microsoft.com/office/powerpoint/2010/main" val="161764170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D38E4-6182-4C20-BA76-6CA303F4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APPENDIX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E6D1AF-A60F-4E53-89AA-61F6D178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Appendix: resize-convolution upsampling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1E93F-525D-4052-94A0-EDE87C43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26828-7BDC-4BBE-B142-A7C46B01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82C2E-4E2A-4FD2-A059-1E205E1C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7C59DD-D6EA-4DCE-B641-5BCAC2F7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9772B"/>
                </a:solidFill>
              </a:defRPr>
            </a:pPr>
            <a:r>
              <a:rPr sz="1800" b="1" i="0">
                <a:solidFill>
                  <a:srgbClr val="D9772B"/>
                </a:solidFill>
              </a:rPr>
              <a:t>PixelShuffle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18419-C741-488F-8DA1-BFDBCFE1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18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BE9D1-FDA2-4E8B-8131-B6BD52ED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18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7E7A"/>
                </a:solidFill>
              </a:defRPr>
            </a:pPr>
            <a:r>
              <a:rPr sz="1800" b="1" i="0">
                <a:solidFill>
                  <a:srgbClr val="177E7A"/>
                </a:solidFill>
              </a:rPr>
              <a:t>Resize-convolution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C757A-177D-4036-BEC3-2CE5EA64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5181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06E8B-1395-42C7-931F-09092EDC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64A13-F7DD-47AA-8204-0061CF44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channels become spatial phases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82838-CBDE-4C6E-8295-137083E5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FDA81-D159-4130-8DF5-36C14221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unequal phase learning can form lattice patterns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F25E6-4FA6-4627-8258-4244831E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2EEDB-8153-471B-B2AC-4CB57F35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requires Fourier inspection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6CC86-1294-4520-8A9C-9F1A987E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85115-44F1-46DF-A878-83BBC5FD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bilinear resize 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3942A4-A328-49ED-9B37-E496A57F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8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78D541-92CF-4394-80EC-61BF3570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ordinary 3 x 3 convolution second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01973-A06A-46D9-8203-9EB33F60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851E12-D3E2-4CFC-9420-926F43CE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4781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used in current base and residual decoder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03869-7C4F-4123-80C2-F4C02549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57B90B-63D9-44FB-9724-F09BA5E9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34000"/>
            <a:ext cx="803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933"/>
                </a:solidFill>
              </a:defRPr>
            </a:pPr>
            <a:r>
              <a:rPr sz="1575" b="1" i="0">
                <a:solidFill>
                  <a:srgbClr val="1F2933"/>
                </a:solidFill>
              </a:rPr>
              <a:t>Resize-convolution reduces one source of periodic artifacts but does not guarantee an artifact-free output.</a:t>
            </a:r>
          </a:p>
        </p:txBody>
      </p:sp>
    </p:spTree>
    <p:extLst>
      <p:ext uri="{BB962C8B-B14F-4D97-AF65-F5344CB8AC3E}">
        <p14:creationId xmlns:p14="http://schemas.microsoft.com/office/powerpoint/2010/main" val="81466275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B2466-C91E-40B8-9B89-9872C71F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APPENDIX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7B3F3D-2F08-41C4-AB79-0F58DD40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Appendix: files saved for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BAFD9-F634-49EC-9399-119D8E2F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C28E2-6137-4EAA-985D-18B71360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70601-C399-4AC3-91A8-2643D5A1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EF800-7592-4A88-91B1-28AE99A8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15F47-2A54-4F45-BE70-562F745B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35255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Git branch and commit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45354-A8F4-486C-BD01-0E1322A0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BB82D-4940-4D7B-827D-315C4499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193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resolved YAML configuration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2AEDF-C0D5-4B80-BFC7-54F67183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6A33DA-EDB3-4FCA-AC52-C5A7799D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manifest, masks, and calibration snapshot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A8E1A-F2D8-4C15-A61D-2FEFE466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F9E0C-89D3-4800-A4B7-7B9EC615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random seed and environment versions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204770-2677-4186-8930-190D10A0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EF496-4CE3-4F85-A4F2-7689781E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stage initialization, best, and latest checkpoints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A221D-6FB0-4FB6-A97F-DE397199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9F3334-C2E4-45C3-A0FB-5EC64DFD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validation selection decision and residual alpha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9FD03-59A0-40DA-BB64-FF2271D0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7A"/>
          </a:solidFill>
          <a:ln xmlns:a="http://schemas.openxmlformats.org/drawingml/2006/main" w="0">
            <a:solidFill>
              <a:srgbClr val="177E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702C1-E33F-4E5E-8967-00978D79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1013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933"/>
                </a:solidFill>
              </a:defRPr>
            </a:pPr>
            <a:r>
              <a:rPr sz="1500" b="0" i="0">
                <a:solidFill>
                  <a:srgbClr val="1F2933"/>
                </a:solidFill>
              </a:rPr>
              <a:t>aggregate metrics, per-patch metrics, outputs, and diagnostics</a:t>
            </a:r>
          </a:p>
        </p:txBody>
      </p:sp>
    </p:spTree>
    <p:extLst>
      <p:ext uri="{BB962C8B-B14F-4D97-AF65-F5344CB8AC3E}">
        <p14:creationId xmlns:p14="http://schemas.microsoft.com/office/powerpoint/2010/main" val="52664438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6021BC-A9BD-40BF-A374-471DA290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7E7A"/>
                </a:solidFill>
              </a:defRPr>
            </a:pPr>
            <a:r>
              <a:rPr sz="1050" b="1" i="0">
                <a:solidFill>
                  <a:srgbClr val="177E7A"/>
                </a:solidFill>
              </a:rPr>
              <a:t>APPENDIX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F9C7B4-759E-4B45-A029-F32CF2EA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73A5E"/>
                </a:solidFill>
              </a:defRPr>
            </a:pPr>
            <a:r>
              <a:rPr sz="2700" b="1" i="0">
                <a:solidFill>
                  <a:srgbClr val="173A5E"/>
                </a:solidFill>
              </a:rPr>
              <a:t>Appendix: terminology used in this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865F4-A9C6-484D-9D92-AB0E1DA3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FF775-E0D0-4310-AEDE-E5AC559A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GeoDiff-GAN | SR-3x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11AE6-E145-4F99-A393-F29DD2F6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5436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5F6B76"/>
                </a:solidFill>
              </a:defRPr>
            </a:pPr>
            <a:r>
              <a:rPr sz="900" b="0" i="0">
                <a:solidFill>
                  <a:srgbClr val="5F6B76"/>
                </a:solidFill>
              </a:rPr>
              <a:t>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BD198-8869-4AA7-9716-2902A6A5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02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A5E"/>
          </a:solidFill>
          <a:ln xmlns:a="http://schemas.openxmlformats.org/drawingml/2006/main" w="0">
            <a:solidFill>
              <a:srgbClr val="173A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78F8D-8FD3-4298-9AA9-F483B405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145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Label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FEC48-99BB-42B7-AFAF-52CA61A0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14500"/>
            <a:ext cx="6800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Use when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0300F-B810-40F3-AC1B-E522ED0D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CCD1E-A6B0-4B83-8630-10A23820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526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Preliminary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11B07-15B8-4088-ACE2-C6E404F2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52675"/>
            <a:ext cx="680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limited patches, one split, or one seed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457F6-653B-4451-A9EC-8FB84849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4FA4D-51E2-4B8D-A805-724C180D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003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Diagnostic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1F0FB-8B73-4838-A47D-266CB0B6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00375"/>
            <a:ext cx="680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finding mechanisms and failures, not claiming generalization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94BD9-38BB-4F04-8173-72E2B361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89016-F26E-455A-9049-C4C53F15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480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Reference target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BF939-7841-4301-94DB-0FAAA0EB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48075"/>
            <a:ext cx="680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paired Sentinel observation, not hidden truth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E0D73-49FC-4F0B-992E-8A01CD1C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CE251-0C45-429F-8770-CFB71198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957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Generated estimate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BF069-54DA-4D75-A1EE-B46244D6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95775"/>
            <a:ext cx="680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model output in reconstruction mode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FACFBD-1E71-49C4-8A35-33ABB098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9810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F1A243-4935-4F36-9229-38EDDFE6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434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Candidate contribution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3BBA3D-D4F4-4EF1-B292-F3DA0D73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43475"/>
            <a:ext cx="680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</a:defRPr>
            </a:pPr>
            <a:r>
              <a:rPr sz="1425" b="0" i="0">
                <a:solidFill>
                  <a:srgbClr val="1F2933"/>
                </a:solidFill>
              </a:rPr>
              <a:t>mechanism still awaiting ablation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612C3-F4A2-43A7-892C-7EE74F4D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29250"/>
            <a:ext cx="47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B"/>
          </a:solidFill>
          <a:ln xmlns:a="http://schemas.openxmlformats.org/drawingml/2006/main" w="0">
            <a:solidFill>
              <a:srgbClr val="D977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C9A444-99FB-4B49-959E-CBDCB286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448300"/>
            <a:ext cx="883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33"/>
                </a:solidFill>
              </a:defRPr>
            </a:pPr>
            <a:r>
              <a:rPr sz="1500" b="1" i="0">
                <a:solidFill>
                  <a:srgbClr val="1F2933"/>
                </a:solidFill>
              </a:rPr>
              <a:t>Report PSNR, SSIM, MAE, ERGAS, SAM, UIQI and sCC by name instead of calling them accuracy.</a:t>
            </a:r>
          </a:p>
        </p:txBody>
      </p:sp>
    </p:spTree>
    <p:extLst>
      <p:ext uri="{BB962C8B-B14F-4D97-AF65-F5344CB8AC3E}">
        <p14:creationId xmlns:p14="http://schemas.microsoft.com/office/powerpoint/2010/main" val="1066259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2026-08-21T10:23:07.5170000Z</dcterms:created>
  <dcterms:modified xsi:type="dcterms:W3CDTF">2026-08-21T10:23:07.5170000Z</dcterms:modified>
</coreProperties>
</file>